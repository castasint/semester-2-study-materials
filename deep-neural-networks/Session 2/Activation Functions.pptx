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6" r:id="rId3"/>
    <p:sldId id="267" r:id="rId4"/>
    <p:sldId id="257" r:id="rId5"/>
    <p:sldId id="258" r:id="rId6"/>
    <p:sldId id="268" r:id="rId7"/>
    <p:sldId id="269" r:id="rId8"/>
    <p:sldId id="270" r:id="rId9"/>
    <p:sldId id="260" r:id="rId10"/>
    <p:sldId id="261" r:id="rId11"/>
    <p:sldId id="262"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46DE7-974E-44E9-BF97-9967549895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91556CB-CA2C-4116-86A2-615132EADA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03D73E-4524-4F5C-83AE-DD25F2E9F767}"/>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5" name="Footer Placeholder 4">
            <a:extLst>
              <a:ext uri="{FF2B5EF4-FFF2-40B4-BE49-F238E27FC236}">
                <a16:creationId xmlns:a16="http://schemas.microsoft.com/office/drawing/2014/main" id="{B9905C7F-A643-4A02-BB3D-F5E9C368D2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C568B0-50D3-4F2D-8226-954422EBD4A2}"/>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4213321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DBB70-FB01-4E18-9FD9-33BBCD18A09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07CD7E-B7EA-4543-AB41-DD8BC21318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FC46A5-A46B-441F-BB15-DBC600D4F1E1}"/>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5" name="Footer Placeholder 4">
            <a:extLst>
              <a:ext uri="{FF2B5EF4-FFF2-40B4-BE49-F238E27FC236}">
                <a16:creationId xmlns:a16="http://schemas.microsoft.com/office/drawing/2014/main" id="{C0C6B944-5A06-4019-9F11-F4CD76D8C7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62103D-12F6-4920-88BB-B73CEE3C3D87}"/>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3637069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ED79A-CD8B-4BFA-887F-A2E8A9C07D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54A68F-CAC4-47FB-822B-202D6933F4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E1FF41-D886-4B70-9F71-5680DC6F36FD}"/>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5" name="Footer Placeholder 4">
            <a:extLst>
              <a:ext uri="{FF2B5EF4-FFF2-40B4-BE49-F238E27FC236}">
                <a16:creationId xmlns:a16="http://schemas.microsoft.com/office/drawing/2014/main" id="{7DF5CB2D-2636-4195-BFD5-614B27F83B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A02C26-E671-4BF4-AAEA-C8802B7AC9EC}"/>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1771638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7602-6F0B-40BE-B545-06B53C3719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10D5E0-797B-48E2-9BB8-7F007185B6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C8604C-80D3-4A30-A230-D9F4F953E5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F25F2C-A5C6-45F7-ABCF-D45EEB1EFBCF}"/>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6" name="Footer Placeholder 5">
            <a:extLst>
              <a:ext uri="{FF2B5EF4-FFF2-40B4-BE49-F238E27FC236}">
                <a16:creationId xmlns:a16="http://schemas.microsoft.com/office/drawing/2014/main" id="{F57D46C1-1955-4A4A-B505-C1DFB0BFD7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BB3941-6473-455B-842D-2FD8262EDF3A}"/>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4163737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8F71-ED53-4C76-81FC-E7911D02B0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510DB7-9F3A-4B36-ACA1-B6DDB7AD74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A843A7-EF50-4288-B3D7-44EA6D06BA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6009DA7-1E1B-4434-A0EB-EE477C9777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85C972-CCA3-4E78-BB38-62EDBF2EB9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EEBB5D-9569-4E6C-B803-8B9B11340953}"/>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8" name="Footer Placeholder 7">
            <a:extLst>
              <a:ext uri="{FF2B5EF4-FFF2-40B4-BE49-F238E27FC236}">
                <a16:creationId xmlns:a16="http://schemas.microsoft.com/office/drawing/2014/main" id="{1FEE5B36-A054-4EE4-BA4D-92482C4E27B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4A6BD4-C469-4755-89AE-D68CF81DD5EF}"/>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347250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055F9-B07D-495A-9702-4523904BF1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E8E935-5B08-4599-BD28-B0D74A32F9AD}"/>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4" name="Footer Placeholder 3">
            <a:extLst>
              <a:ext uri="{FF2B5EF4-FFF2-40B4-BE49-F238E27FC236}">
                <a16:creationId xmlns:a16="http://schemas.microsoft.com/office/drawing/2014/main" id="{E2654E49-D11C-4296-8CBC-BF9459EE868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EC6A4D9-0A10-428C-8070-F3D6CBEAC4FD}"/>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3599473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59A5C3-63FF-45FE-B78F-69289D84086F}"/>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3" name="Footer Placeholder 2">
            <a:extLst>
              <a:ext uri="{FF2B5EF4-FFF2-40B4-BE49-F238E27FC236}">
                <a16:creationId xmlns:a16="http://schemas.microsoft.com/office/drawing/2014/main" id="{511BD3E8-E151-4102-B721-07165B15D7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0F6124-8DAC-4883-A246-CA7342349B42}"/>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1124146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CD5D-80A5-4C6A-9775-E8F3FB497C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BA28CD7-C5FF-46A2-8369-B169E87422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0D6FB79-A530-49FB-8E73-6EACAD9D5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F380FB-1DE5-48E7-A319-0A461CDED3FD}"/>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6" name="Footer Placeholder 5">
            <a:extLst>
              <a:ext uri="{FF2B5EF4-FFF2-40B4-BE49-F238E27FC236}">
                <a16:creationId xmlns:a16="http://schemas.microsoft.com/office/drawing/2014/main" id="{5FA7E086-66FB-4C0F-A66E-6CD70F64AB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29B8B1-0AED-45C6-847D-0BE4CB7551FD}"/>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946441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FFD7C-76FB-4B10-BDFF-150B2E8459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FFF773-4EA3-4C4C-B484-D5A98211B8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C646164-3060-405E-BE47-B018456593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D312AD-D4E1-4441-BE12-566A12551420}"/>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6" name="Footer Placeholder 5">
            <a:extLst>
              <a:ext uri="{FF2B5EF4-FFF2-40B4-BE49-F238E27FC236}">
                <a16:creationId xmlns:a16="http://schemas.microsoft.com/office/drawing/2014/main" id="{150952F7-726D-4D09-BC08-3A9E2D89D0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775DDA-1439-4257-B16C-7DDA0917ACD2}"/>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2395025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1E894-D9CB-456B-B7F4-3CC208EE4DF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D163B2-930E-4B03-B601-54C624039B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359983-B076-4A75-96D4-3860B6E80A75}"/>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5" name="Footer Placeholder 4">
            <a:extLst>
              <a:ext uri="{FF2B5EF4-FFF2-40B4-BE49-F238E27FC236}">
                <a16:creationId xmlns:a16="http://schemas.microsoft.com/office/drawing/2014/main" id="{F52A3ECB-00AA-431B-9488-B0ED6811F0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4603C6-9D88-4B8F-BD1C-F10976B5C2F0}"/>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3235451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325F0C-2517-4BA4-98DD-1C5B548ABB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3C73D8-37F4-49EB-A7AD-535A15F793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1A1B45-E645-454B-B6FE-C200CF01938E}"/>
              </a:ext>
            </a:extLst>
          </p:cNvPr>
          <p:cNvSpPr>
            <a:spLocks noGrp="1"/>
          </p:cNvSpPr>
          <p:nvPr>
            <p:ph type="dt" sz="half" idx="10"/>
          </p:nvPr>
        </p:nvSpPr>
        <p:spPr/>
        <p:txBody>
          <a:bodyPr/>
          <a:lstStyle/>
          <a:p>
            <a:fld id="{F5F33E6A-574A-4A56-AF06-27D03F5D66FD}" type="datetimeFigureOut">
              <a:rPr lang="en-IN" smtClean="0"/>
              <a:t>01-11-2025</a:t>
            </a:fld>
            <a:endParaRPr lang="en-IN"/>
          </a:p>
        </p:txBody>
      </p:sp>
      <p:sp>
        <p:nvSpPr>
          <p:cNvPr id="5" name="Footer Placeholder 4">
            <a:extLst>
              <a:ext uri="{FF2B5EF4-FFF2-40B4-BE49-F238E27FC236}">
                <a16:creationId xmlns:a16="http://schemas.microsoft.com/office/drawing/2014/main" id="{9FDFCF25-C765-44AD-940B-535BF33FB6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CDCA2A-54D1-4CB0-8833-3C0346F47966}"/>
              </a:ext>
            </a:extLst>
          </p:cNvPr>
          <p:cNvSpPr>
            <a:spLocks noGrp="1"/>
          </p:cNvSpPr>
          <p:nvPr>
            <p:ph type="sldNum" sz="quarter" idx="12"/>
          </p:nvPr>
        </p:nvSpPr>
        <p:spPr/>
        <p:txBody>
          <a:bodyPr/>
          <a:lstStyle/>
          <a:p>
            <a:fld id="{A2E44E24-30D9-49FA-AB61-4C7D174F2718}" type="slidenum">
              <a:rPr lang="en-IN" smtClean="0"/>
              <a:t>‹#›</a:t>
            </a:fld>
            <a:endParaRPr lang="en-IN"/>
          </a:p>
        </p:txBody>
      </p:sp>
    </p:spTree>
    <p:extLst>
      <p:ext uri="{BB962C8B-B14F-4D97-AF65-F5344CB8AC3E}">
        <p14:creationId xmlns:p14="http://schemas.microsoft.com/office/powerpoint/2010/main" val="3146941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B92BBB-F586-4036-ADF7-F0BC7B320B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270A2D-7B08-4BF2-83D0-6AE0615DD95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D63E-33B2-49A3-8828-F06E1AA3C4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F33E6A-574A-4A56-AF06-27D03F5D66FD}" type="datetimeFigureOut">
              <a:rPr lang="en-IN" smtClean="0"/>
              <a:t>01-11-2025</a:t>
            </a:fld>
            <a:endParaRPr lang="en-IN"/>
          </a:p>
        </p:txBody>
      </p:sp>
      <p:sp>
        <p:nvSpPr>
          <p:cNvPr id="5" name="Footer Placeholder 4">
            <a:extLst>
              <a:ext uri="{FF2B5EF4-FFF2-40B4-BE49-F238E27FC236}">
                <a16:creationId xmlns:a16="http://schemas.microsoft.com/office/drawing/2014/main" id="{2222695E-BAB0-4322-BE5A-6BF47F8132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2055952-2EED-4958-BF40-B42711F32B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E44E24-30D9-49FA-AB61-4C7D174F2718}" type="slidenum">
              <a:rPr lang="en-IN" smtClean="0"/>
              <a:t>‹#›</a:t>
            </a:fld>
            <a:endParaRPr lang="en-IN"/>
          </a:p>
        </p:txBody>
      </p:sp>
    </p:spTree>
    <p:extLst>
      <p:ext uri="{BB962C8B-B14F-4D97-AF65-F5344CB8AC3E}">
        <p14:creationId xmlns:p14="http://schemas.microsoft.com/office/powerpoint/2010/main" val="3317887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987B24-7C3D-4914-B207-7C6D0D578FB8}"/>
              </a:ext>
            </a:extLst>
          </p:cNvPr>
          <p:cNvSpPr>
            <a:spLocks noGrp="1"/>
          </p:cNvSpPr>
          <p:nvPr>
            <p:ph idx="1"/>
          </p:nvPr>
        </p:nvSpPr>
        <p:spPr>
          <a:xfrm>
            <a:off x="212651" y="148856"/>
            <a:ext cx="11979349" cy="2264735"/>
          </a:xfrm>
        </p:spPr>
        <p:txBody>
          <a:bodyPr/>
          <a:lstStyle/>
          <a:p>
            <a:pPr fontAlgn="base"/>
            <a:r>
              <a:rPr lang="en-US" b="1" dirty="0"/>
              <a:t>What is an activation function and why to use them?</a:t>
            </a:r>
            <a:endParaRPr lang="en-US" dirty="0"/>
          </a:p>
          <a:p>
            <a:pPr fontAlgn="base"/>
            <a:r>
              <a:rPr lang="en-US" b="1" dirty="0"/>
              <a:t>Definition of activation function:- </a:t>
            </a:r>
            <a:r>
              <a:rPr lang="en-US" dirty="0"/>
              <a:t>Activation function decides, whether a neuron should be activated or not by calculating weighted sum and further adding bias with it. The purpose of the activation function is to </a:t>
            </a:r>
            <a:r>
              <a:rPr lang="en-US" b="1" dirty="0"/>
              <a:t>introduce non-linearity</a:t>
            </a:r>
            <a:r>
              <a:rPr lang="en-US" dirty="0"/>
              <a:t> into the output of a neuron.</a:t>
            </a:r>
          </a:p>
          <a:p>
            <a:endParaRPr lang="en-IN" dirty="0"/>
          </a:p>
        </p:txBody>
      </p:sp>
      <p:pic>
        <p:nvPicPr>
          <p:cNvPr id="4098" name="Picture 2" descr="neuralNet">
            <a:extLst>
              <a:ext uri="{FF2B5EF4-FFF2-40B4-BE49-F238E27FC236}">
                <a16:creationId xmlns:a16="http://schemas.microsoft.com/office/drawing/2014/main" id="{82F878A5-A8F3-43C6-97EB-6FD1514DF3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7025" y="2854953"/>
            <a:ext cx="4651898" cy="285473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62F824A-30EC-4FF9-807C-F812F98B33A2}"/>
              </a:ext>
            </a:extLst>
          </p:cNvPr>
          <p:cNvSpPr/>
          <p:nvPr/>
        </p:nvSpPr>
        <p:spPr>
          <a:xfrm>
            <a:off x="212651" y="2551837"/>
            <a:ext cx="6741042" cy="2677656"/>
          </a:xfrm>
          <a:prstGeom prst="rect">
            <a:avLst/>
          </a:prstGeom>
        </p:spPr>
        <p:txBody>
          <a:bodyPr wrap="square">
            <a:spAutoFit/>
          </a:bodyPr>
          <a:lstStyle/>
          <a:p>
            <a:pPr algn="just"/>
            <a:r>
              <a:rPr lang="en-US" sz="2400" b="0" i="0" dirty="0">
                <a:effectLst/>
                <a:latin typeface="Roboto"/>
              </a:rPr>
              <a:t>doesn’t matter how many hidden layer we attach in neural net, all layers will behave same way because </a:t>
            </a:r>
            <a:r>
              <a:rPr lang="en-US" sz="2400" b="1" i="1" dirty="0">
                <a:effectLst/>
                <a:latin typeface="Roboto"/>
              </a:rPr>
              <a:t>the composition of two linear function is a linear function itself</a:t>
            </a:r>
            <a:r>
              <a:rPr lang="en-US" sz="2400" b="0" i="0" dirty="0">
                <a:effectLst/>
                <a:latin typeface="Roboto"/>
              </a:rPr>
              <a:t>. </a:t>
            </a:r>
          </a:p>
          <a:p>
            <a:pPr algn="just"/>
            <a:r>
              <a:rPr lang="en-US" sz="2400" b="0" i="0" dirty="0">
                <a:effectLst/>
                <a:latin typeface="Roboto"/>
              </a:rPr>
              <a:t>Neuron can not learn with just a linear function attached to it. A non-linear activation function will let it learn as per the difference w.r.t error.</a:t>
            </a:r>
            <a:endParaRPr lang="en-IN" sz="2400" dirty="0"/>
          </a:p>
        </p:txBody>
      </p:sp>
    </p:spTree>
    <p:extLst>
      <p:ext uri="{BB962C8B-B14F-4D97-AF65-F5344CB8AC3E}">
        <p14:creationId xmlns:p14="http://schemas.microsoft.com/office/powerpoint/2010/main" val="48240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6751-09BF-4AC2-8E35-1F0C3FE3699C}"/>
              </a:ext>
            </a:extLst>
          </p:cNvPr>
          <p:cNvSpPr>
            <a:spLocks noGrp="1"/>
          </p:cNvSpPr>
          <p:nvPr>
            <p:ph type="ctrTitle"/>
          </p:nvPr>
        </p:nvSpPr>
        <p:spPr>
          <a:xfrm>
            <a:off x="109870" y="0"/>
            <a:ext cx="12082130" cy="759600"/>
          </a:xfrm>
        </p:spPr>
        <p:txBody>
          <a:bodyPr>
            <a:normAutofit/>
          </a:bodyPr>
          <a:lstStyle/>
          <a:p>
            <a:r>
              <a:rPr lang="en-IN" sz="3600" b="1" dirty="0">
                <a:latin typeface="Arial" panose="020B0604020202020204" pitchFamily="34" charset="0"/>
                <a:cs typeface="Arial" panose="020B0604020202020204" pitchFamily="34" charset="0"/>
              </a:rPr>
              <a:t>Activation Function in Neural networks</a:t>
            </a:r>
          </a:p>
        </p:txBody>
      </p:sp>
      <p:sp>
        <p:nvSpPr>
          <p:cNvPr id="3" name="Subtitle 2">
            <a:extLst>
              <a:ext uri="{FF2B5EF4-FFF2-40B4-BE49-F238E27FC236}">
                <a16:creationId xmlns:a16="http://schemas.microsoft.com/office/drawing/2014/main" id="{E523981C-3A74-4286-8FB4-66FE388E2643}"/>
              </a:ext>
            </a:extLst>
          </p:cNvPr>
          <p:cNvSpPr>
            <a:spLocks noGrp="1"/>
          </p:cNvSpPr>
          <p:nvPr>
            <p:ph type="subTitle" idx="1"/>
          </p:nvPr>
        </p:nvSpPr>
        <p:spPr>
          <a:xfrm>
            <a:off x="226827" y="954531"/>
            <a:ext cx="11681637" cy="5658920"/>
          </a:xfrm>
        </p:spPr>
        <p:txBody>
          <a:bodyPr/>
          <a:lstStyle/>
          <a:p>
            <a:pPr algn="just"/>
            <a:r>
              <a:rPr lang="en-US" dirty="0"/>
              <a:t>If we do not apply a Activation function then the output signal would simply be a simple </a:t>
            </a:r>
            <a:r>
              <a:rPr lang="en-US" b="1" i="1" dirty="0"/>
              <a:t>linear </a:t>
            </a:r>
            <a:r>
              <a:rPr lang="en-US" b="1" i="1" dirty="0" err="1"/>
              <a:t>function</a:t>
            </a:r>
            <a:r>
              <a:rPr lang="en-US" i="1" dirty="0" err="1"/>
              <a:t>.</a:t>
            </a:r>
            <a:r>
              <a:rPr lang="en-US" dirty="0" err="1"/>
              <a:t>A</a:t>
            </a:r>
            <a:r>
              <a:rPr lang="en-US" dirty="0"/>
              <a:t> </a:t>
            </a:r>
            <a:r>
              <a:rPr lang="en-US" i="1" dirty="0"/>
              <a:t>linear function</a:t>
            </a:r>
            <a:r>
              <a:rPr lang="en-US" dirty="0"/>
              <a:t> is just a polynomial of </a:t>
            </a:r>
            <a:r>
              <a:rPr lang="en-US" b="1" dirty="0"/>
              <a:t>one degree. </a:t>
            </a:r>
          </a:p>
          <a:p>
            <a:pPr algn="just"/>
            <a:r>
              <a:rPr lang="en-US" dirty="0"/>
              <a:t>Now, a linear equation is easy to solve but they are limited in their complexity and have less power to learn complex functional mappings from data. </a:t>
            </a:r>
          </a:p>
          <a:p>
            <a:pPr algn="just"/>
            <a:r>
              <a:rPr lang="en-US" dirty="0"/>
              <a:t>A Neural Network without Activation function would simply be a </a:t>
            </a:r>
            <a:r>
              <a:rPr lang="en-US" b="1" dirty="0"/>
              <a:t>Linear regression Model, </a:t>
            </a:r>
            <a:r>
              <a:rPr lang="en-US" dirty="0"/>
              <a:t>which has limited power and does not performs good most of the times. </a:t>
            </a:r>
          </a:p>
          <a:p>
            <a:pPr algn="just"/>
            <a:r>
              <a:rPr lang="en-US" dirty="0"/>
              <a:t>We want our Neural Network to not just learn and compute a linear function but something more complicated than that. </a:t>
            </a:r>
          </a:p>
          <a:p>
            <a:pPr algn="just"/>
            <a:r>
              <a:rPr lang="en-US" i="1" dirty="0"/>
              <a:t>Also without activation function our Neural network would not be able to learn and model other complicated kinds of data such as images, videos , audio , speech etc.</a:t>
            </a:r>
            <a:endParaRPr lang="en-IN" dirty="0"/>
          </a:p>
        </p:txBody>
      </p:sp>
    </p:spTree>
    <p:extLst>
      <p:ext uri="{BB962C8B-B14F-4D97-AF65-F5344CB8AC3E}">
        <p14:creationId xmlns:p14="http://schemas.microsoft.com/office/powerpoint/2010/main" val="822979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170BBA-BB58-4E7D-83D3-958A73825B03}"/>
              </a:ext>
            </a:extLst>
          </p:cNvPr>
          <p:cNvSpPr>
            <a:spLocks noGrp="1"/>
          </p:cNvSpPr>
          <p:nvPr>
            <p:ph idx="1"/>
          </p:nvPr>
        </p:nvSpPr>
        <p:spPr>
          <a:xfrm>
            <a:off x="191386" y="244549"/>
            <a:ext cx="11621386" cy="6517758"/>
          </a:xfrm>
        </p:spPr>
        <p:txBody>
          <a:bodyPr>
            <a:normAutofit lnSpcReduction="10000"/>
          </a:bodyPr>
          <a:lstStyle/>
          <a:p>
            <a:pPr fontAlgn="base"/>
            <a:r>
              <a:rPr lang="en-US" b="1" dirty="0"/>
              <a:t>Linear Function :-</a:t>
            </a:r>
            <a:endParaRPr lang="en-US" dirty="0"/>
          </a:p>
          <a:p>
            <a:pPr fontAlgn="base"/>
            <a:r>
              <a:rPr lang="en-US" b="1" dirty="0"/>
              <a:t>Equation : </a:t>
            </a:r>
            <a:r>
              <a:rPr lang="en-US" dirty="0"/>
              <a:t>Linear function has the equation similar to as of a straight line i.e. </a:t>
            </a:r>
            <a:r>
              <a:rPr lang="en-US" b="1" dirty="0"/>
              <a:t>y = ax</a:t>
            </a:r>
            <a:endParaRPr lang="en-US" dirty="0"/>
          </a:p>
          <a:p>
            <a:pPr fontAlgn="base"/>
            <a:r>
              <a:rPr lang="en-US" dirty="0"/>
              <a:t>No matter how many layers we have, if all are linear in nature, the final activation function of last layer is nothing but just a linear function of the input of first layer.</a:t>
            </a:r>
          </a:p>
          <a:p>
            <a:pPr fontAlgn="base"/>
            <a:r>
              <a:rPr lang="en-US" b="1" dirty="0"/>
              <a:t>Range :</a:t>
            </a:r>
            <a:r>
              <a:rPr lang="en-US" dirty="0"/>
              <a:t> -inf to +inf</a:t>
            </a:r>
          </a:p>
          <a:p>
            <a:pPr fontAlgn="base"/>
            <a:r>
              <a:rPr lang="en-US" b="1" dirty="0"/>
              <a:t>Uses : Linear activation function</a:t>
            </a:r>
            <a:r>
              <a:rPr lang="en-US" dirty="0"/>
              <a:t> is used at just one place i.e. output layer.</a:t>
            </a:r>
          </a:p>
          <a:p>
            <a:pPr fontAlgn="base"/>
            <a:r>
              <a:rPr lang="en-US" b="1" dirty="0"/>
              <a:t>Issues : </a:t>
            </a:r>
            <a:r>
              <a:rPr lang="en-US" dirty="0"/>
              <a:t>If we will differentiate linear function to bring non-linearity, result will no more depend on </a:t>
            </a:r>
            <a:r>
              <a:rPr lang="en-US" i="1" dirty="0"/>
              <a:t>input “x”</a:t>
            </a:r>
            <a:r>
              <a:rPr lang="en-US" dirty="0"/>
              <a:t> and function will become constant, it won’t introduce any ground-breaking behavior to our algorithm.</a:t>
            </a:r>
          </a:p>
          <a:p>
            <a:r>
              <a:rPr lang="en-US" b="1" dirty="0"/>
              <a:t>For example :</a:t>
            </a:r>
            <a:r>
              <a:rPr lang="en-US" dirty="0"/>
              <a:t> Calculation of price of a house is a regression problem. House price may have any big/small value, so we can apply linear activation at output layer. Even in this case neural net must have any non-linear function at hidden layers.</a:t>
            </a:r>
            <a:endParaRPr lang="en-IN" dirty="0"/>
          </a:p>
        </p:txBody>
      </p:sp>
    </p:spTree>
    <p:extLst>
      <p:ext uri="{BB962C8B-B14F-4D97-AF65-F5344CB8AC3E}">
        <p14:creationId xmlns:p14="http://schemas.microsoft.com/office/powerpoint/2010/main" val="3771679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6751-09BF-4AC2-8E35-1F0C3FE3699C}"/>
              </a:ext>
            </a:extLst>
          </p:cNvPr>
          <p:cNvSpPr>
            <a:spLocks noGrp="1"/>
          </p:cNvSpPr>
          <p:nvPr>
            <p:ph type="ctrTitle"/>
          </p:nvPr>
        </p:nvSpPr>
        <p:spPr>
          <a:xfrm>
            <a:off x="109870" y="0"/>
            <a:ext cx="12082130" cy="759600"/>
          </a:xfrm>
        </p:spPr>
        <p:txBody>
          <a:bodyPr>
            <a:normAutofit/>
          </a:bodyPr>
          <a:lstStyle/>
          <a:p>
            <a:r>
              <a:rPr lang="en-IN" sz="3600" b="1" dirty="0">
                <a:latin typeface="Arial" panose="020B0604020202020204" pitchFamily="34" charset="0"/>
                <a:cs typeface="Arial" panose="020B0604020202020204" pitchFamily="34" charset="0"/>
              </a:rPr>
              <a:t>Activation Function in Neural networks</a:t>
            </a:r>
          </a:p>
        </p:txBody>
      </p:sp>
      <p:sp>
        <p:nvSpPr>
          <p:cNvPr id="3" name="Subtitle 2">
            <a:extLst>
              <a:ext uri="{FF2B5EF4-FFF2-40B4-BE49-F238E27FC236}">
                <a16:creationId xmlns:a16="http://schemas.microsoft.com/office/drawing/2014/main" id="{E523981C-3A74-4286-8FB4-66FE388E2643}"/>
              </a:ext>
            </a:extLst>
          </p:cNvPr>
          <p:cNvSpPr>
            <a:spLocks noGrp="1"/>
          </p:cNvSpPr>
          <p:nvPr>
            <p:ph type="subTitle" idx="1"/>
          </p:nvPr>
        </p:nvSpPr>
        <p:spPr>
          <a:xfrm>
            <a:off x="226827" y="954531"/>
            <a:ext cx="11681637" cy="5658920"/>
          </a:xfrm>
        </p:spPr>
        <p:txBody>
          <a:bodyPr/>
          <a:lstStyle/>
          <a:p>
            <a:r>
              <a:rPr lang="en-US" b="1" dirty="0"/>
              <a:t>So why do we need Non-Linearities?</a:t>
            </a:r>
          </a:p>
          <a:p>
            <a:pPr algn="just"/>
            <a:r>
              <a:rPr lang="en-US" dirty="0"/>
              <a:t>Non-linear functions are those which have degree more than one and they have a curvature when we plot a Non-Linear function. </a:t>
            </a:r>
          </a:p>
          <a:p>
            <a:pPr algn="just"/>
            <a:r>
              <a:rPr lang="en-US" dirty="0"/>
              <a:t>Now we need a Neural Network Model to learn and represent almost anything and any arbitrary complex function which maps inputs to outputs. </a:t>
            </a:r>
          </a:p>
          <a:p>
            <a:pPr algn="just"/>
            <a:r>
              <a:rPr lang="en-US" dirty="0"/>
              <a:t>Neural-Networks are considered </a:t>
            </a:r>
            <a:r>
              <a:rPr lang="en-US" b="1" i="1" dirty="0"/>
              <a:t>Universal Function Approximators</a:t>
            </a:r>
            <a:r>
              <a:rPr lang="en-US" dirty="0"/>
              <a:t>. </a:t>
            </a:r>
            <a:r>
              <a:rPr lang="en-US" i="1" dirty="0"/>
              <a:t>It means that they can compute and learn any function at all</a:t>
            </a:r>
            <a:r>
              <a:rPr lang="en-US" dirty="0"/>
              <a:t>. Almost any process we can think of can be represented as a functional computation in Neural Networks.</a:t>
            </a:r>
          </a:p>
          <a:p>
            <a:pPr algn="l"/>
            <a:r>
              <a:rPr lang="en-US" b="1" dirty="0"/>
              <a:t>Also another important feature of a Activation function is that it should be differentiable. We need it to be this way so as to perform </a:t>
            </a:r>
            <a:r>
              <a:rPr lang="en-US" b="1" dirty="0" err="1"/>
              <a:t>backpropogation</a:t>
            </a:r>
            <a:r>
              <a:rPr lang="en-US" b="1" dirty="0"/>
              <a:t> optimization strategy while </a:t>
            </a:r>
            <a:r>
              <a:rPr lang="en-US" b="1" dirty="0" err="1"/>
              <a:t>propogating</a:t>
            </a:r>
            <a:r>
              <a:rPr lang="en-US" b="1" dirty="0"/>
              <a:t> backwards in the network to compute gradients of Error(loss) with respect to Weights and then accordingly optimize weights using Gradient descend or any other Optimization technique to reduce Error.</a:t>
            </a:r>
            <a:endParaRPr lang="en-IN" dirty="0"/>
          </a:p>
        </p:txBody>
      </p:sp>
    </p:spTree>
    <p:extLst>
      <p:ext uri="{BB962C8B-B14F-4D97-AF65-F5344CB8AC3E}">
        <p14:creationId xmlns:p14="http://schemas.microsoft.com/office/powerpoint/2010/main" val="3360762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6751-09BF-4AC2-8E35-1F0C3FE3699C}"/>
              </a:ext>
            </a:extLst>
          </p:cNvPr>
          <p:cNvSpPr>
            <a:spLocks noGrp="1"/>
          </p:cNvSpPr>
          <p:nvPr>
            <p:ph type="ctrTitle"/>
          </p:nvPr>
        </p:nvSpPr>
        <p:spPr>
          <a:xfrm>
            <a:off x="109870" y="0"/>
            <a:ext cx="12082130" cy="759600"/>
          </a:xfrm>
        </p:spPr>
        <p:txBody>
          <a:bodyPr>
            <a:normAutofit/>
          </a:bodyPr>
          <a:lstStyle/>
          <a:p>
            <a:r>
              <a:rPr lang="en-US" sz="3600" b="1" dirty="0">
                <a:latin typeface="Arial" panose="020B0604020202020204" pitchFamily="34" charset="0"/>
                <a:cs typeface="Arial" panose="020B0604020202020204" pitchFamily="34" charset="0"/>
              </a:rPr>
              <a:t>Most popular types of Activation functions</a:t>
            </a:r>
            <a:endParaRPr lang="en-IN" sz="3600" b="1"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E523981C-3A74-4286-8FB4-66FE388E2643}"/>
              </a:ext>
            </a:extLst>
          </p:cNvPr>
          <p:cNvSpPr>
            <a:spLocks noGrp="1"/>
          </p:cNvSpPr>
          <p:nvPr>
            <p:ph type="subTitle" idx="1"/>
          </p:nvPr>
        </p:nvSpPr>
        <p:spPr>
          <a:xfrm>
            <a:off x="226827" y="954531"/>
            <a:ext cx="11681637" cy="5658920"/>
          </a:xfrm>
        </p:spPr>
        <p:txBody>
          <a:bodyPr/>
          <a:lstStyle/>
          <a:p>
            <a:pPr marL="342900" indent="-342900" algn="l">
              <a:buFont typeface="Wingdings" panose="05000000000000000000" pitchFamily="2" charset="2"/>
              <a:buChar char="q"/>
            </a:pPr>
            <a:r>
              <a:rPr lang="en-US" b="1" i="1" dirty="0">
                <a:solidFill>
                  <a:srgbClr val="FF0000"/>
                </a:solidFill>
              </a:rPr>
              <a:t>Sigmoid or Logistic</a:t>
            </a:r>
            <a:endParaRPr lang="en-US" b="1" dirty="0">
              <a:solidFill>
                <a:srgbClr val="FF0000"/>
              </a:solidFill>
            </a:endParaRPr>
          </a:p>
          <a:p>
            <a:pPr marL="342900" indent="-342900" algn="l">
              <a:buFont typeface="Wingdings" panose="05000000000000000000" pitchFamily="2" charset="2"/>
              <a:buChar char="q"/>
            </a:pPr>
            <a:r>
              <a:rPr lang="en-US" b="1" i="1" dirty="0">
                <a:solidFill>
                  <a:srgbClr val="FF0000"/>
                </a:solidFill>
              </a:rPr>
              <a:t>Tanh — Hyperbolic tangent</a:t>
            </a:r>
            <a:endParaRPr lang="en-US" b="1" dirty="0">
              <a:solidFill>
                <a:srgbClr val="FF0000"/>
              </a:solidFill>
            </a:endParaRPr>
          </a:p>
          <a:p>
            <a:pPr marL="342900" indent="-342900" algn="l">
              <a:buFont typeface="Wingdings" panose="05000000000000000000" pitchFamily="2" charset="2"/>
              <a:buChar char="q"/>
            </a:pPr>
            <a:r>
              <a:rPr lang="en-US" b="1" i="1" dirty="0" err="1">
                <a:solidFill>
                  <a:srgbClr val="FF0000"/>
                </a:solidFill>
              </a:rPr>
              <a:t>ReLu</a:t>
            </a:r>
            <a:r>
              <a:rPr lang="en-US" b="1" i="1" dirty="0">
                <a:solidFill>
                  <a:srgbClr val="FF0000"/>
                </a:solidFill>
              </a:rPr>
              <a:t> -Rectified linear units</a:t>
            </a:r>
            <a:endParaRPr lang="en-US" b="1" dirty="0">
              <a:solidFill>
                <a:srgbClr val="FF0000"/>
              </a:solidFill>
            </a:endParaRPr>
          </a:p>
          <a:p>
            <a:pPr algn="l"/>
            <a:r>
              <a:rPr lang="en-US" b="1" dirty="0">
                <a:solidFill>
                  <a:srgbClr val="00B050"/>
                </a:solidFill>
              </a:rPr>
              <a:t>Sigmoid Activation function:</a:t>
            </a:r>
            <a:r>
              <a:rPr lang="en-US" b="1" dirty="0"/>
              <a:t> </a:t>
            </a:r>
            <a:r>
              <a:rPr lang="en-US" dirty="0"/>
              <a:t>It is a activation function of form </a:t>
            </a:r>
            <a:r>
              <a:rPr lang="en-US" b="1" dirty="0">
                <a:solidFill>
                  <a:srgbClr val="00B050"/>
                </a:solidFill>
              </a:rPr>
              <a:t>f(x) = 1 / 1 + exp(-x)</a:t>
            </a:r>
            <a:r>
              <a:rPr lang="en-US" b="1" dirty="0"/>
              <a:t> . </a:t>
            </a:r>
            <a:r>
              <a:rPr lang="en-US" dirty="0"/>
              <a:t>Its Range is between 0 and 1. It is a S — shaped curve. </a:t>
            </a:r>
            <a:endParaRPr lang="en-IN" dirty="0"/>
          </a:p>
        </p:txBody>
      </p:sp>
      <p:pic>
        <p:nvPicPr>
          <p:cNvPr id="4" name="Picture 2" descr="https://cdn-images-1.medium.com/max/800/0*WYB0K0zk1MiIB6xp.png">
            <a:extLst>
              <a:ext uri="{FF2B5EF4-FFF2-40B4-BE49-F238E27FC236}">
                <a16:creationId xmlns:a16="http://schemas.microsoft.com/office/drawing/2014/main" id="{D411DA68-A162-4D46-8098-B11A0C76BC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8365" y="3248430"/>
            <a:ext cx="3468540" cy="242935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0B46A5E-AE9F-42DE-ABC0-3153BFFDCA5A}"/>
              </a:ext>
            </a:extLst>
          </p:cNvPr>
          <p:cNvSpPr/>
          <p:nvPr/>
        </p:nvSpPr>
        <p:spPr>
          <a:xfrm>
            <a:off x="210967" y="3248431"/>
            <a:ext cx="8486466" cy="3046988"/>
          </a:xfrm>
          <a:prstGeom prst="rect">
            <a:avLst/>
          </a:prstGeom>
        </p:spPr>
        <p:txBody>
          <a:bodyPr wrap="square">
            <a:spAutoFit/>
          </a:bodyPr>
          <a:lstStyle/>
          <a:p>
            <a:pPr fontAlgn="base"/>
            <a:r>
              <a:rPr lang="en-US" sz="2400" b="1" dirty="0"/>
              <a:t>Nature : Non-linear. Notice that X values lies between -2 to 2, Y values are very steep. This means, small changes in x would also bring about large changes in the value of Y.</a:t>
            </a:r>
          </a:p>
          <a:p>
            <a:pPr fontAlgn="base"/>
            <a:r>
              <a:rPr lang="en-US" sz="2400" b="1" dirty="0"/>
              <a:t>Value Range : 0 to 1</a:t>
            </a:r>
          </a:p>
          <a:p>
            <a:pPr fontAlgn="base"/>
            <a:r>
              <a:rPr lang="en-US" sz="2400" b="1" dirty="0"/>
              <a:t>Uses : Usually used in output layer of a binary classification, where result is either 0 or 1, as value for sigmoid function lies between 0 and 1 only so, result can be predicted easily to be </a:t>
            </a:r>
            <a:r>
              <a:rPr lang="en-US" sz="2400" b="1" i="1" dirty="0"/>
              <a:t>1</a:t>
            </a:r>
            <a:r>
              <a:rPr lang="en-US" sz="2400" b="1" dirty="0"/>
              <a:t> if value is greater than 0.5 and </a:t>
            </a:r>
            <a:r>
              <a:rPr lang="en-US" sz="2400" b="1" i="1" dirty="0"/>
              <a:t>0</a:t>
            </a:r>
            <a:r>
              <a:rPr lang="en-US" sz="2400" b="1" dirty="0"/>
              <a:t> otherwise.</a:t>
            </a:r>
          </a:p>
        </p:txBody>
      </p:sp>
    </p:spTree>
    <p:extLst>
      <p:ext uri="{BB962C8B-B14F-4D97-AF65-F5344CB8AC3E}">
        <p14:creationId xmlns:p14="http://schemas.microsoft.com/office/powerpoint/2010/main" val="3355541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33E67E-0AD2-40F4-BB33-405F3E6ACC20}"/>
              </a:ext>
            </a:extLst>
          </p:cNvPr>
          <p:cNvSpPr>
            <a:spLocks noGrp="1"/>
          </p:cNvSpPr>
          <p:nvPr>
            <p:ph idx="1"/>
          </p:nvPr>
        </p:nvSpPr>
        <p:spPr>
          <a:xfrm>
            <a:off x="295939" y="347699"/>
            <a:ext cx="11569996" cy="4351338"/>
          </a:xfrm>
        </p:spPr>
        <p:txBody>
          <a:bodyPr>
            <a:normAutofit/>
          </a:bodyPr>
          <a:lstStyle/>
          <a:p>
            <a:r>
              <a:rPr lang="en-US" dirty="0"/>
              <a:t>It is easy to understand and apply but it has major reasons which have made it fall out of popularity -</a:t>
            </a:r>
          </a:p>
          <a:p>
            <a:pPr marL="457200" indent="-457200">
              <a:buFont typeface="+mj-lt"/>
              <a:buAutoNum type="arabicPeriod"/>
            </a:pPr>
            <a:r>
              <a:rPr lang="en-US" b="1" dirty="0">
                <a:solidFill>
                  <a:srgbClr val="0070C0"/>
                </a:solidFill>
              </a:rPr>
              <a:t>Vanishing gradient problem</a:t>
            </a:r>
          </a:p>
          <a:p>
            <a:pPr marL="457200" indent="-457200">
              <a:buFont typeface="+mj-lt"/>
              <a:buAutoNum type="arabicPeriod"/>
            </a:pPr>
            <a:r>
              <a:rPr lang="en-US" b="1" dirty="0">
                <a:solidFill>
                  <a:srgbClr val="0070C0"/>
                </a:solidFill>
              </a:rPr>
              <a:t>Secondly , its output isn’t zero centered. It makes the gradient updates go too far in different directions. 0 &lt; output &lt; 1, and it makes optimization harder.</a:t>
            </a:r>
          </a:p>
          <a:p>
            <a:pPr marL="457200" indent="-457200">
              <a:buFont typeface="+mj-lt"/>
              <a:buAutoNum type="arabicPeriod"/>
            </a:pPr>
            <a:r>
              <a:rPr lang="en-US" b="1" dirty="0" err="1">
                <a:solidFill>
                  <a:srgbClr val="0070C0"/>
                </a:solidFill>
              </a:rPr>
              <a:t>Sigmoids</a:t>
            </a:r>
            <a:r>
              <a:rPr lang="en-US" b="1" dirty="0">
                <a:solidFill>
                  <a:srgbClr val="0070C0"/>
                </a:solidFill>
              </a:rPr>
              <a:t> saturate and kill gradients.</a:t>
            </a:r>
          </a:p>
          <a:p>
            <a:pPr marL="457200" indent="-457200">
              <a:buFont typeface="+mj-lt"/>
              <a:buAutoNum type="arabicPeriod"/>
            </a:pPr>
            <a:r>
              <a:rPr lang="en-US" b="1" dirty="0" err="1">
                <a:solidFill>
                  <a:srgbClr val="0070C0"/>
                </a:solidFill>
              </a:rPr>
              <a:t>Sigmoids</a:t>
            </a:r>
            <a:r>
              <a:rPr lang="en-US" b="1" dirty="0">
                <a:solidFill>
                  <a:srgbClr val="0070C0"/>
                </a:solidFill>
              </a:rPr>
              <a:t> have slow convergence.</a:t>
            </a:r>
          </a:p>
          <a:p>
            <a:endParaRPr lang="en-IN" dirty="0"/>
          </a:p>
        </p:txBody>
      </p:sp>
    </p:spTree>
    <p:extLst>
      <p:ext uri="{BB962C8B-B14F-4D97-AF65-F5344CB8AC3E}">
        <p14:creationId xmlns:p14="http://schemas.microsoft.com/office/powerpoint/2010/main" val="4145905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5C05846-BD24-43DF-A07B-0B03ADF49077}"/>
              </a:ext>
            </a:extLst>
          </p:cNvPr>
          <p:cNvSpPr>
            <a:spLocks noGrp="1" noChangeArrowheads="1"/>
          </p:cNvSpPr>
          <p:nvPr>
            <p:ph idx="1"/>
          </p:nvPr>
        </p:nvSpPr>
        <p:spPr bwMode="auto">
          <a:xfrm>
            <a:off x="188728" y="119840"/>
            <a:ext cx="11814545" cy="47705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kumimoji="0" lang="en-US" altLang="en-US" b="1" i="0" u="none" strike="noStrike" cap="none" normalizeH="0" baseline="0" dirty="0">
                <a:ln>
                  <a:noFill/>
                </a:ln>
                <a:solidFill>
                  <a:srgbClr val="FF0000"/>
                </a:solidFill>
                <a:effectLst/>
                <a:latin typeface="Arial Black" panose="020B0A04020102020204" pitchFamily="34" charset="0"/>
              </a:rPr>
              <a:t>Tangent Hyperbolic function</a:t>
            </a:r>
            <a:endParaRPr kumimoji="0" lang="en-US" altLang="en-US" b="0" i="0" u="none" strike="noStrike" cap="none" normalizeH="0" baseline="0" dirty="0">
              <a:ln>
                <a:noFill/>
              </a:ln>
              <a:solidFill>
                <a:srgbClr val="FF0000"/>
              </a:solidFill>
              <a:effectLst/>
              <a:latin typeface="Arial Black" panose="020B0A040201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Roboto"/>
              </a:rPr>
              <a:t>The activation that works almost always better than sigmoid function is Tanh function also knows as </a:t>
            </a:r>
            <a:r>
              <a:rPr kumimoji="0" lang="en-US" altLang="en-US" sz="2000" b="1" i="0" u="none" strike="noStrike" cap="none" normalizeH="0" baseline="0" dirty="0">
                <a:ln>
                  <a:noFill/>
                </a:ln>
                <a:solidFill>
                  <a:schemeClr val="tx1"/>
                </a:solidFill>
                <a:effectLst/>
                <a:latin typeface="Roboto"/>
              </a:rPr>
              <a:t>Tangent Hyperbolic function</a:t>
            </a:r>
            <a:r>
              <a:rPr kumimoji="0" lang="en-US" altLang="en-US" sz="2000" b="0" i="0" u="none" strike="noStrike" cap="none" normalizeH="0" baseline="0" dirty="0">
                <a:ln>
                  <a:noFill/>
                </a:ln>
                <a:solidFill>
                  <a:schemeClr val="tx1"/>
                </a:solidFill>
                <a:effectLst/>
                <a:latin typeface="Robot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Roboto"/>
              </a:rPr>
              <a:t>It’s actually mathematically shifted version of the sigmoid function. Both are similar and can be derived from each other.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000" b="1" dirty="0">
                <a:latin typeface="Roboto"/>
              </a:rPr>
              <a:t> </a:t>
            </a:r>
            <a:r>
              <a:rPr kumimoji="0" lang="en-US" altLang="en-US" sz="2000" b="1" i="0" u="none" strike="noStrike" cap="none" normalizeH="0" baseline="0" dirty="0">
                <a:ln>
                  <a:noFill/>
                </a:ln>
                <a:solidFill>
                  <a:schemeClr val="tx1"/>
                </a:solidFill>
                <a:effectLst/>
                <a:latin typeface="Roboto"/>
              </a:rPr>
              <a:t>Equation :-</a:t>
            </a:r>
            <a:r>
              <a:rPr kumimoji="0" lang="en-US" altLang="en-US" sz="2000" b="0" i="0" u="none" strike="noStrike" cap="none" normalizeH="0" baseline="0" dirty="0">
                <a:ln>
                  <a:noFill/>
                </a:ln>
                <a:solidFill>
                  <a:schemeClr val="tx1"/>
                </a:solidFill>
                <a:effectLst/>
                <a:latin typeface="Consolas" panose="020B0609020204030204" pitchFamily="49" charset="0"/>
              </a:rPr>
              <a:t>f(x) = tanh(x) = 2/(1 + e</a:t>
            </a:r>
            <a:r>
              <a:rPr kumimoji="0" lang="en-US" altLang="en-US" sz="2000" b="0" i="0" u="none" strike="noStrike" cap="none" normalizeH="0" baseline="30000" dirty="0">
                <a:ln>
                  <a:noFill/>
                </a:ln>
                <a:solidFill>
                  <a:schemeClr val="tx1"/>
                </a:solidFill>
                <a:effectLst/>
                <a:latin typeface="Consolas" panose="020B0609020204030204" pitchFamily="49" charset="0"/>
              </a:rPr>
              <a:t>-2x</a:t>
            </a:r>
            <a:r>
              <a:rPr kumimoji="0" lang="en-US" altLang="en-US" sz="2000" b="0" i="0" u="none" strike="noStrike" cap="none" normalizeH="0" baseline="0" dirty="0">
                <a:ln>
                  <a:noFill/>
                </a:ln>
                <a:solidFill>
                  <a:schemeClr val="tx1"/>
                </a:solidFill>
                <a:effectLst/>
                <a:latin typeface="Consolas" panose="020B0609020204030204" pitchFamily="49" charset="0"/>
              </a:rPr>
              <a:t>) - 1 OR tanh(x) = 2 * sigmoid(2x) – 1</a:t>
            </a:r>
          </a:p>
          <a:p>
            <a:pPr eaLnBrk="0" fontAlgn="base" hangingPunct="0">
              <a:lnSpc>
                <a:spcPct val="100000"/>
              </a:lnSpc>
              <a:spcBef>
                <a:spcPct val="0"/>
              </a:spcBef>
              <a:spcAft>
                <a:spcPct val="0"/>
              </a:spcAft>
            </a:pPr>
            <a:r>
              <a:rPr kumimoji="0" lang="en-US" altLang="en-US" sz="2000" b="1" i="0" u="none" strike="noStrike" cap="none" normalizeH="0" baseline="0" dirty="0">
                <a:ln>
                  <a:noFill/>
                </a:ln>
                <a:solidFill>
                  <a:schemeClr val="tx1"/>
                </a:solidFill>
                <a:effectLst/>
                <a:latin typeface="Roboto"/>
              </a:rPr>
              <a:t>Value Range :- </a:t>
            </a:r>
            <a:r>
              <a:rPr kumimoji="0" lang="en-US" altLang="en-US" sz="2000" b="0" i="0" u="none" strike="noStrike" cap="none" normalizeH="0" baseline="0" dirty="0">
                <a:ln>
                  <a:noFill/>
                </a:ln>
                <a:solidFill>
                  <a:schemeClr val="tx1"/>
                </a:solidFill>
                <a:effectLst/>
                <a:latin typeface="Roboto"/>
              </a:rPr>
              <a:t>-1 to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Roboto"/>
              </a:rPr>
              <a:t> Nature :- </a:t>
            </a:r>
            <a:r>
              <a:rPr kumimoji="0" lang="en-US" altLang="en-US" sz="2000" b="0" i="0" u="none" strike="noStrike" cap="none" normalizeH="0" baseline="0" dirty="0">
                <a:ln>
                  <a:noFill/>
                </a:ln>
                <a:solidFill>
                  <a:schemeClr val="tx1"/>
                </a:solidFill>
                <a:effectLst/>
                <a:latin typeface="Roboto"/>
              </a:rPr>
              <a:t>non-linear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Roboto"/>
              </a:rPr>
              <a:t> Uses :- </a:t>
            </a:r>
            <a:r>
              <a:rPr kumimoji="0" lang="en-US" altLang="en-US" sz="2000" b="0" i="0" u="none" strike="noStrike" cap="none" normalizeH="0" baseline="0" dirty="0">
                <a:ln>
                  <a:noFill/>
                </a:ln>
                <a:solidFill>
                  <a:schemeClr val="tx1"/>
                </a:solidFill>
                <a:effectLst/>
                <a:latin typeface="Roboto"/>
              </a:rPr>
              <a:t>Usually used in hidden layers of a neural network as it’s values lies between </a:t>
            </a:r>
            <a:r>
              <a:rPr kumimoji="0" lang="en-US" altLang="en-US" sz="2000" b="1" i="0" u="none" strike="noStrike" cap="none" normalizeH="0" baseline="0" dirty="0">
                <a:ln>
                  <a:noFill/>
                </a:ln>
                <a:solidFill>
                  <a:schemeClr val="tx1"/>
                </a:solidFill>
                <a:effectLst/>
                <a:latin typeface="Roboto"/>
              </a:rPr>
              <a:t>-1 to 1 </a:t>
            </a:r>
            <a:r>
              <a:rPr kumimoji="0" lang="en-US" altLang="en-US" sz="2000" b="0" i="0" u="none" strike="noStrike" cap="none" normalizeH="0" baseline="0" dirty="0">
                <a:ln>
                  <a:noFill/>
                </a:ln>
                <a:solidFill>
                  <a:schemeClr val="tx1"/>
                </a:solidFill>
                <a:effectLst/>
                <a:latin typeface="Roboto"/>
              </a:rPr>
              <a:t>hence the mean for the hidden layer comes out be 0 or very close to it, hence helps in </a:t>
            </a:r>
            <a:r>
              <a:rPr kumimoji="0" lang="en-US" altLang="en-US" sz="2000" b="0" i="1" u="none" strike="noStrike" cap="none" normalizeH="0" baseline="0" dirty="0">
                <a:ln>
                  <a:noFill/>
                </a:ln>
                <a:solidFill>
                  <a:schemeClr val="tx1"/>
                </a:solidFill>
                <a:effectLst/>
                <a:latin typeface="Roboto"/>
              </a:rPr>
              <a:t>centering the data</a:t>
            </a:r>
            <a:r>
              <a:rPr kumimoji="0" lang="en-US" altLang="en-US" sz="2000" b="0" i="0" u="none" strike="noStrike" cap="none" normalizeH="0" baseline="0" dirty="0">
                <a:ln>
                  <a:noFill/>
                </a:ln>
                <a:solidFill>
                  <a:schemeClr val="tx1"/>
                </a:solidFill>
                <a:effectLst/>
                <a:latin typeface="Roboto"/>
              </a:rPr>
              <a:t> by bringing mean close to 0. This makes learning for the next layer much easier.</a:t>
            </a:r>
          </a:p>
          <a:p>
            <a:pPr marL="0" indent="0" eaLnBrk="0" fontAlgn="base" hangingPunct="0">
              <a:lnSpc>
                <a:spcPct val="100000"/>
              </a:lnSpc>
              <a:spcBef>
                <a:spcPct val="0"/>
              </a:spcBef>
              <a:spcAft>
                <a:spcPct val="0"/>
              </a:spcAft>
              <a:buNone/>
            </a:pPr>
            <a:endParaRPr lang="en-US" sz="2000" i="1" dirty="0"/>
          </a:p>
          <a:p>
            <a:pPr marL="0" indent="0" eaLnBrk="0" fontAlgn="base" hangingPunct="0">
              <a:lnSpc>
                <a:spcPct val="100000"/>
              </a:lnSpc>
              <a:spcBef>
                <a:spcPct val="0"/>
              </a:spcBef>
              <a:spcAft>
                <a:spcPct val="0"/>
              </a:spcAft>
              <a:buNone/>
            </a:pPr>
            <a:r>
              <a:rPr lang="en-US" sz="2400" b="1" dirty="0">
                <a:solidFill>
                  <a:srgbClr val="FF0000"/>
                </a:solidFill>
              </a:rPr>
              <a:t>But still it suffers from Vanishing gradient problem.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https://cdn-images-1.medium.com/max/800/0*VHhGS4NwibecRjIa.png">
            <a:extLst>
              <a:ext uri="{FF2B5EF4-FFF2-40B4-BE49-F238E27FC236}">
                <a16:creationId xmlns:a16="http://schemas.microsoft.com/office/drawing/2014/main" id="{E6E414E9-230C-4D32-92A8-4ED654D31A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4809" y="3598969"/>
            <a:ext cx="4358463" cy="312468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DAC4D48-EF7B-4336-85FF-48D422DC1ED8}"/>
              </a:ext>
            </a:extLst>
          </p:cNvPr>
          <p:cNvSpPr/>
          <p:nvPr/>
        </p:nvSpPr>
        <p:spPr>
          <a:xfrm>
            <a:off x="95693" y="5359937"/>
            <a:ext cx="7549115" cy="830997"/>
          </a:xfrm>
          <a:prstGeom prst="rect">
            <a:avLst/>
          </a:prstGeom>
        </p:spPr>
        <p:txBody>
          <a:bodyPr wrap="square">
            <a:spAutoFit/>
          </a:bodyPr>
          <a:lstStyle/>
          <a:p>
            <a:r>
              <a:rPr lang="en-US" sz="2400" b="1" dirty="0">
                <a:solidFill>
                  <a:srgbClr val="0070C0"/>
                </a:solidFill>
                <a:latin typeface="medium-content-serif-font"/>
              </a:rPr>
              <a:t>Then how do we deal and rectify the vanishing gradient problem ?</a:t>
            </a:r>
            <a:endParaRPr lang="en-IN" sz="2400" b="1" dirty="0">
              <a:solidFill>
                <a:srgbClr val="0070C0"/>
              </a:solidFill>
            </a:endParaRPr>
          </a:p>
        </p:txBody>
      </p:sp>
    </p:spTree>
    <p:extLst>
      <p:ext uri="{BB962C8B-B14F-4D97-AF65-F5344CB8AC3E}">
        <p14:creationId xmlns:p14="http://schemas.microsoft.com/office/powerpoint/2010/main" val="170998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D48F2A-1CCD-4F74-9CF1-96E38C03493D}"/>
              </a:ext>
            </a:extLst>
          </p:cNvPr>
          <p:cNvSpPr>
            <a:spLocks noGrp="1"/>
          </p:cNvSpPr>
          <p:nvPr>
            <p:ph idx="1"/>
          </p:nvPr>
        </p:nvSpPr>
        <p:spPr>
          <a:xfrm>
            <a:off x="297711" y="340242"/>
            <a:ext cx="11685181" cy="6347637"/>
          </a:xfrm>
        </p:spPr>
        <p:txBody>
          <a:bodyPr/>
          <a:lstStyle/>
          <a:p>
            <a:pPr fontAlgn="base"/>
            <a:r>
              <a:rPr lang="en-US" b="1" dirty="0"/>
              <a:t>RELU :- </a:t>
            </a:r>
            <a:r>
              <a:rPr lang="en-US" dirty="0"/>
              <a:t>Stands for </a:t>
            </a:r>
            <a:r>
              <a:rPr lang="en-US" b="1" i="1" dirty="0">
                <a:solidFill>
                  <a:srgbClr val="FF0000"/>
                </a:solidFill>
              </a:rPr>
              <a:t>Rectified linear unit</a:t>
            </a:r>
            <a:r>
              <a:rPr lang="en-US" dirty="0"/>
              <a:t>. It is the most widely used activation function. Chiefly implemented in </a:t>
            </a:r>
            <a:r>
              <a:rPr lang="en-US" i="1" dirty="0"/>
              <a:t>hidden layers</a:t>
            </a:r>
            <a:r>
              <a:rPr lang="en-US" dirty="0"/>
              <a:t> of Neural network.</a:t>
            </a:r>
          </a:p>
          <a:p>
            <a:pPr algn="just" fontAlgn="base"/>
            <a:r>
              <a:rPr lang="en-US" b="1" dirty="0"/>
              <a:t>Equation :- </a:t>
            </a:r>
            <a:r>
              <a:rPr lang="en-US" b="1" i="1" dirty="0"/>
              <a:t>A(x) = max(0,x)</a:t>
            </a:r>
            <a:r>
              <a:rPr lang="en-US" dirty="0"/>
              <a:t>. It gives an output x if x is positive and 0 otherwise.</a:t>
            </a:r>
          </a:p>
          <a:p>
            <a:pPr fontAlgn="base"/>
            <a:r>
              <a:rPr lang="en-US" b="1" dirty="0"/>
              <a:t>Value Range :- </a:t>
            </a:r>
            <a:r>
              <a:rPr lang="en-US" dirty="0"/>
              <a:t>[0, inf)</a:t>
            </a:r>
          </a:p>
          <a:p>
            <a:pPr fontAlgn="base"/>
            <a:r>
              <a:rPr lang="en-US" b="1" dirty="0"/>
              <a:t>Nature :- </a:t>
            </a:r>
            <a:r>
              <a:rPr lang="en-US" dirty="0"/>
              <a:t>non-linear, which means we can easily backpropagate the errors and have multiple layers of neurons being activated by the </a:t>
            </a:r>
            <a:r>
              <a:rPr lang="en-US" dirty="0" err="1"/>
              <a:t>ReLU</a:t>
            </a:r>
            <a:r>
              <a:rPr lang="en-US" dirty="0"/>
              <a:t> function.</a:t>
            </a:r>
          </a:p>
          <a:p>
            <a:pPr fontAlgn="base"/>
            <a:r>
              <a:rPr lang="en-US" b="1" dirty="0"/>
              <a:t>Uses :- </a:t>
            </a:r>
            <a:r>
              <a:rPr lang="en-US" dirty="0" err="1"/>
              <a:t>ReLu</a:t>
            </a:r>
            <a:r>
              <a:rPr lang="en-US" dirty="0"/>
              <a:t> is less computationally expensive than tanh and sigmoid because it involves simpler mathematical operations. At a time only a few neurons are activated making the network sparse making it efficient and easy for computation.</a:t>
            </a:r>
          </a:p>
          <a:p>
            <a:endParaRPr lang="en-IN" dirty="0"/>
          </a:p>
        </p:txBody>
      </p:sp>
    </p:spTree>
    <p:extLst>
      <p:ext uri="{BB962C8B-B14F-4D97-AF65-F5344CB8AC3E}">
        <p14:creationId xmlns:p14="http://schemas.microsoft.com/office/powerpoint/2010/main" val="293433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6751-09BF-4AC2-8E35-1F0C3FE3699C}"/>
              </a:ext>
            </a:extLst>
          </p:cNvPr>
          <p:cNvSpPr>
            <a:spLocks noGrp="1"/>
          </p:cNvSpPr>
          <p:nvPr>
            <p:ph type="ctrTitle"/>
          </p:nvPr>
        </p:nvSpPr>
        <p:spPr>
          <a:xfrm>
            <a:off x="109870" y="0"/>
            <a:ext cx="12082130" cy="759600"/>
          </a:xfrm>
        </p:spPr>
        <p:txBody>
          <a:bodyPr>
            <a:normAutofit/>
          </a:bodyPr>
          <a:lstStyle/>
          <a:p>
            <a:r>
              <a:rPr lang="en-IN" sz="3600" b="1" dirty="0">
                <a:latin typeface="Arial" panose="020B0604020202020204" pitchFamily="34" charset="0"/>
                <a:cs typeface="Arial" panose="020B0604020202020204" pitchFamily="34" charset="0"/>
              </a:rPr>
              <a:t>Activation Function in Neural networks</a:t>
            </a:r>
          </a:p>
        </p:txBody>
      </p:sp>
      <p:sp>
        <p:nvSpPr>
          <p:cNvPr id="3" name="Subtitle 2">
            <a:extLst>
              <a:ext uri="{FF2B5EF4-FFF2-40B4-BE49-F238E27FC236}">
                <a16:creationId xmlns:a16="http://schemas.microsoft.com/office/drawing/2014/main" id="{E523981C-3A74-4286-8FB4-66FE388E2643}"/>
              </a:ext>
            </a:extLst>
          </p:cNvPr>
          <p:cNvSpPr>
            <a:spLocks noGrp="1"/>
          </p:cNvSpPr>
          <p:nvPr>
            <p:ph type="subTitle" idx="1"/>
          </p:nvPr>
        </p:nvSpPr>
        <p:spPr>
          <a:xfrm>
            <a:off x="226827" y="954531"/>
            <a:ext cx="11681637" cy="5658920"/>
          </a:xfrm>
        </p:spPr>
        <p:txBody>
          <a:bodyPr/>
          <a:lstStyle/>
          <a:p>
            <a:pPr marL="342900" indent="-342900" algn="just">
              <a:buFont typeface="Wingdings" panose="05000000000000000000" pitchFamily="2" charset="2"/>
              <a:buChar char="§"/>
            </a:pPr>
            <a:r>
              <a:rPr lang="en-US" b="1" i="1" dirty="0" err="1"/>
              <a:t>ReLu</a:t>
            </a:r>
            <a:r>
              <a:rPr lang="en-US" b="1" i="1" dirty="0"/>
              <a:t>- Rectified Linear units </a:t>
            </a:r>
            <a:r>
              <a:rPr lang="en-US" dirty="0"/>
              <a:t>: It has become very popular in the past couple of years. </a:t>
            </a:r>
          </a:p>
          <a:p>
            <a:pPr marL="342900" indent="-342900" algn="just">
              <a:buFont typeface="Wingdings" panose="05000000000000000000" pitchFamily="2" charset="2"/>
              <a:buChar char="§"/>
            </a:pPr>
            <a:r>
              <a:rPr lang="en-US" dirty="0"/>
              <a:t>It was recently proved that it had </a:t>
            </a:r>
            <a:r>
              <a:rPr lang="en-US" i="1" dirty="0"/>
              <a:t>6 times improvement in convergence </a:t>
            </a:r>
            <a:r>
              <a:rPr lang="en-US" dirty="0"/>
              <a:t>from Tanh function. It’s just </a:t>
            </a:r>
            <a:r>
              <a:rPr lang="en-US" i="1" dirty="0"/>
              <a:t>R(x) = max(0,x) </a:t>
            </a:r>
            <a:r>
              <a:rPr lang="en-US" i="1" dirty="0" err="1"/>
              <a:t>i.e</a:t>
            </a:r>
            <a:r>
              <a:rPr lang="en-US" i="1" dirty="0"/>
              <a:t> if x &lt; 0 , R(x) = 0 and if x &gt;= 0 , R(x) = x. </a:t>
            </a:r>
          </a:p>
          <a:p>
            <a:pPr marL="342900" indent="-342900" algn="just">
              <a:buFont typeface="Wingdings" panose="05000000000000000000" pitchFamily="2" charset="2"/>
              <a:buChar char="§"/>
            </a:pPr>
            <a:r>
              <a:rPr lang="en-US" i="1" dirty="0"/>
              <a:t>A lot of times in Machine learning and computer science we notice that most simple and consistent techniques and methods are only preferred and are best. </a:t>
            </a:r>
          </a:p>
          <a:p>
            <a:pPr marL="342900" indent="-342900" algn="just">
              <a:buFont typeface="Wingdings" panose="05000000000000000000" pitchFamily="2" charset="2"/>
              <a:buChar char="§"/>
            </a:pPr>
            <a:r>
              <a:rPr lang="en-US" dirty="0"/>
              <a:t>Hence it avoids and rectifies </a:t>
            </a:r>
            <a:r>
              <a:rPr lang="en-US" b="1" dirty="0"/>
              <a:t>vanishing gradient</a:t>
            </a:r>
            <a:r>
              <a:rPr lang="en-US" dirty="0"/>
              <a:t> problem . Almost all deep learning Models use </a:t>
            </a:r>
            <a:r>
              <a:rPr lang="en-US" b="1" dirty="0" err="1"/>
              <a:t>ReLu</a:t>
            </a:r>
            <a:r>
              <a:rPr lang="en-US" dirty="0"/>
              <a:t> nowadays.</a:t>
            </a:r>
          </a:p>
          <a:p>
            <a:pPr marL="342900" indent="-342900" algn="just">
              <a:buFont typeface="Wingdings" panose="05000000000000000000" pitchFamily="2" charset="2"/>
              <a:buChar char="§"/>
            </a:pPr>
            <a:r>
              <a:rPr lang="en-US" b="1" dirty="0"/>
              <a:t>But its limitation is that it should only be used within Hidden layers of a Neural Network Model</a:t>
            </a:r>
            <a:r>
              <a:rPr lang="en-US" dirty="0"/>
              <a:t>.</a:t>
            </a:r>
          </a:p>
          <a:p>
            <a:pPr marL="342900" indent="-342900" algn="just">
              <a:buFont typeface="Wingdings" panose="05000000000000000000" pitchFamily="2" charset="2"/>
              <a:buChar char="§"/>
            </a:pPr>
            <a:r>
              <a:rPr lang="en-US" dirty="0"/>
              <a:t>Hence for output layers we should use a </a:t>
            </a:r>
            <a:r>
              <a:rPr lang="en-US" b="1" dirty="0" err="1"/>
              <a:t>Softmax</a:t>
            </a:r>
            <a:r>
              <a:rPr lang="en-US" dirty="0"/>
              <a:t> function for a Classification problem to compute the </a:t>
            </a:r>
            <a:r>
              <a:rPr lang="en-US" dirty="0" err="1"/>
              <a:t>probabilites</a:t>
            </a:r>
            <a:r>
              <a:rPr lang="en-US" dirty="0"/>
              <a:t> for the classes , and for a regression problem it should simply use a </a:t>
            </a:r>
            <a:r>
              <a:rPr lang="en-US" b="1" dirty="0"/>
              <a:t>linear</a:t>
            </a:r>
            <a:r>
              <a:rPr lang="en-US" dirty="0"/>
              <a:t> function.</a:t>
            </a:r>
            <a:endParaRPr lang="en-IN" dirty="0"/>
          </a:p>
        </p:txBody>
      </p:sp>
    </p:spTree>
    <p:extLst>
      <p:ext uri="{BB962C8B-B14F-4D97-AF65-F5344CB8AC3E}">
        <p14:creationId xmlns:p14="http://schemas.microsoft.com/office/powerpoint/2010/main" val="423499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6751-09BF-4AC2-8E35-1F0C3FE3699C}"/>
              </a:ext>
            </a:extLst>
          </p:cNvPr>
          <p:cNvSpPr>
            <a:spLocks noGrp="1"/>
          </p:cNvSpPr>
          <p:nvPr>
            <p:ph type="ctrTitle"/>
          </p:nvPr>
        </p:nvSpPr>
        <p:spPr>
          <a:xfrm>
            <a:off x="109870" y="0"/>
            <a:ext cx="12082130" cy="759600"/>
          </a:xfrm>
        </p:spPr>
        <p:txBody>
          <a:bodyPr>
            <a:normAutofit/>
          </a:bodyPr>
          <a:lstStyle/>
          <a:p>
            <a:r>
              <a:rPr lang="en-IN" sz="3600" b="1" dirty="0">
                <a:latin typeface="Arial" panose="020B0604020202020204" pitchFamily="34" charset="0"/>
                <a:cs typeface="Arial" panose="020B0604020202020204" pitchFamily="34" charset="0"/>
              </a:rPr>
              <a:t>Activation Function in Neural networks</a:t>
            </a:r>
          </a:p>
        </p:txBody>
      </p:sp>
      <p:sp>
        <p:nvSpPr>
          <p:cNvPr id="3" name="Subtitle 2">
            <a:extLst>
              <a:ext uri="{FF2B5EF4-FFF2-40B4-BE49-F238E27FC236}">
                <a16:creationId xmlns:a16="http://schemas.microsoft.com/office/drawing/2014/main" id="{E523981C-3A74-4286-8FB4-66FE388E2643}"/>
              </a:ext>
            </a:extLst>
          </p:cNvPr>
          <p:cNvSpPr>
            <a:spLocks noGrp="1"/>
          </p:cNvSpPr>
          <p:nvPr>
            <p:ph type="subTitle" idx="1"/>
          </p:nvPr>
        </p:nvSpPr>
        <p:spPr>
          <a:xfrm>
            <a:off x="226827" y="954531"/>
            <a:ext cx="11681637" cy="2990148"/>
          </a:xfrm>
        </p:spPr>
        <p:txBody>
          <a:bodyPr/>
          <a:lstStyle/>
          <a:p>
            <a:pPr marL="342900" indent="-342900" algn="just">
              <a:buFont typeface="Wingdings" panose="05000000000000000000" pitchFamily="2" charset="2"/>
              <a:buChar char="§"/>
            </a:pPr>
            <a:r>
              <a:rPr lang="en-US" b="1" dirty="0"/>
              <a:t>Another problem with </a:t>
            </a:r>
            <a:r>
              <a:rPr lang="en-US" b="1" dirty="0" err="1"/>
              <a:t>ReLu</a:t>
            </a:r>
            <a:r>
              <a:rPr lang="en-US" b="1" dirty="0"/>
              <a:t> is that some gradients can be fragile during training and can die. </a:t>
            </a:r>
          </a:p>
          <a:p>
            <a:pPr marL="342900" indent="-342900" algn="just">
              <a:buFont typeface="Wingdings" panose="05000000000000000000" pitchFamily="2" charset="2"/>
              <a:buChar char="§"/>
            </a:pPr>
            <a:r>
              <a:rPr lang="en-US" b="1" dirty="0"/>
              <a:t>It can cause a weight update which will makes it never activate on any data point again. </a:t>
            </a:r>
          </a:p>
          <a:p>
            <a:pPr marL="342900" indent="-342900" algn="just">
              <a:buFont typeface="Wingdings" panose="05000000000000000000" pitchFamily="2" charset="2"/>
              <a:buChar char="§"/>
            </a:pPr>
            <a:r>
              <a:rPr lang="en-US" b="1" dirty="0"/>
              <a:t>Simply saying that </a:t>
            </a:r>
            <a:r>
              <a:rPr lang="en-US" b="1" dirty="0" err="1"/>
              <a:t>ReLu</a:t>
            </a:r>
            <a:r>
              <a:rPr lang="en-US" b="1" dirty="0"/>
              <a:t> could result in Dead Neurons.</a:t>
            </a:r>
            <a:endParaRPr lang="en-US" dirty="0"/>
          </a:p>
          <a:p>
            <a:pPr marL="342900" indent="-342900" algn="just">
              <a:buFont typeface="Wingdings" panose="05000000000000000000" pitchFamily="2" charset="2"/>
              <a:buChar char="§"/>
            </a:pPr>
            <a:r>
              <a:rPr lang="en-US" dirty="0"/>
              <a:t>To fix this problem another modification was introduced called </a:t>
            </a:r>
            <a:r>
              <a:rPr lang="en-US" b="1" i="1" dirty="0"/>
              <a:t>Leaky </a:t>
            </a:r>
            <a:r>
              <a:rPr lang="en-US" b="1" i="1" dirty="0" err="1"/>
              <a:t>ReLu</a:t>
            </a:r>
            <a:r>
              <a:rPr lang="en-US" b="1" i="1" dirty="0"/>
              <a:t> </a:t>
            </a:r>
            <a:r>
              <a:rPr lang="en-US" dirty="0"/>
              <a:t>to fix the problem of dying neurons. It introduces a small slope to keep the updates alive.</a:t>
            </a:r>
          </a:p>
          <a:p>
            <a:pPr marL="342900" indent="-342900" algn="just">
              <a:buFont typeface="Wingdings" panose="05000000000000000000" pitchFamily="2" charset="2"/>
              <a:buChar char="§"/>
            </a:pPr>
            <a:r>
              <a:rPr lang="en-US" dirty="0"/>
              <a:t>another variant made form both </a:t>
            </a:r>
            <a:r>
              <a:rPr lang="en-US" dirty="0" err="1"/>
              <a:t>ReLu</a:t>
            </a:r>
            <a:r>
              <a:rPr lang="en-US" dirty="0"/>
              <a:t> and Leaky </a:t>
            </a:r>
            <a:r>
              <a:rPr lang="en-US" dirty="0" err="1"/>
              <a:t>ReLu</a:t>
            </a:r>
            <a:r>
              <a:rPr lang="en-US" dirty="0"/>
              <a:t> called </a:t>
            </a:r>
            <a:r>
              <a:rPr lang="en-US" b="1" dirty="0" err="1"/>
              <a:t>Maxout</a:t>
            </a:r>
            <a:r>
              <a:rPr lang="en-US" b="1" dirty="0"/>
              <a:t> </a:t>
            </a:r>
            <a:r>
              <a:rPr lang="en-US" dirty="0"/>
              <a:t>function</a:t>
            </a:r>
            <a:r>
              <a:rPr lang="en-US" b="1" dirty="0"/>
              <a:t> .</a:t>
            </a:r>
            <a:endParaRPr lang="en-US" dirty="0"/>
          </a:p>
          <a:p>
            <a:pPr algn="l"/>
            <a:endParaRPr lang="en-IN" dirty="0"/>
          </a:p>
        </p:txBody>
      </p:sp>
      <p:pic>
        <p:nvPicPr>
          <p:cNvPr id="3074" name="Picture 2" descr="https://cdn-images-1.medium.com/max/800/0*qtfLu9rmtNullrVC.png">
            <a:extLst>
              <a:ext uri="{FF2B5EF4-FFF2-40B4-BE49-F238E27FC236}">
                <a16:creationId xmlns:a16="http://schemas.microsoft.com/office/drawing/2014/main" id="{29721869-02B5-40DE-9D88-5E38BF0B7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4372" y="3944678"/>
            <a:ext cx="9669268" cy="2828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980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6751-09BF-4AC2-8E35-1F0C3FE3699C}"/>
              </a:ext>
            </a:extLst>
          </p:cNvPr>
          <p:cNvSpPr>
            <a:spLocks noGrp="1"/>
          </p:cNvSpPr>
          <p:nvPr>
            <p:ph type="ctrTitle"/>
          </p:nvPr>
        </p:nvSpPr>
        <p:spPr>
          <a:xfrm>
            <a:off x="109870" y="0"/>
            <a:ext cx="12082130" cy="759600"/>
          </a:xfrm>
        </p:spPr>
        <p:txBody>
          <a:bodyPr>
            <a:normAutofit/>
          </a:bodyPr>
          <a:lstStyle/>
          <a:p>
            <a:r>
              <a:rPr lang="en-IN" sz="3600" b="1" dirty="0">
                <a:latin typeface="Arial" panose="020B0604020202020204" pitchFamily="34" charset="0"/>
                <a:cs typeface="Arial" panose="020B0604020202020204" pitchFamily="34" charset="0"/>
              </a:rPr>
              <a:t>Activation Function in Neural networks</a:t>
            </a:r>
          </a:p>
        </p:txBody>
      </p:sp>
      <p:sp>
        <p:nvSpPr>
          <p:cNvPr id="3" name="Subtitle 2">
            <a:extLst>
              <a:ext uri="{FF2B5EF4-FFF2-40B4-BE49-F238E27FC236}">
                <a16:creationId xmlns:a16="http://schemas.microsoft.com/office/drawing/2014/main" id="{E523981C-3A74-4286-8FB4-66FE388E2643}"/>
              </a:ext>
            </a:extLst>
          </p:cNvPr>
          <p:cNvSpPr>
            <a:spLocks noGrp="1"/>
          </p:cNvSpPr>
          <p:nvPr>
            <p:ph type="subTitle" idx="1"/>
          </p:nvPr>
        </p:nvSpPr>
        <p:spPr>
          <a:xfrm>
            <a:off x="226827" y="954531"/>
            <a:ext cx="11681637" cy="3224064"/>
          </a:xfrm>
        </p:spPr>
        <p:txBody>
          <a:bodyPr/>
          <a:lstStyle/>
          <a:p>
            <a:pPr algn="just" fontAlgn="base"/>
            <a:r>
              <a:rPr lang="en-US" b="1" dirty="0" err="1"/>
              <a:t>Softmax</a:t>
            </a:r>
            <a:r>
              <a:rPr lang="en-US" b="1" dirty="0"/>
              <a:t> Function :- </a:t>
            </a:r>
            <a:r>
              <a:rPr lang="en-US" dirty="0"/>
              <a:t>The </a:t>
            </a:r>
            <a:r>
              <a:rPr lang="en-US" dirty="0" err="1"/>
              <a:t>softmax</a:t>
            </a:r>
            <a:r>
              <a:rPr lang="en-US" dirty="0"/>
              <a:t> function is also a type of sigmoid function but is handy when we are trying to handle classification problems.</a:t>
            </a:r>
          </a:p>
          <a:p>
            <a:pPr algn="just" fontAlgn="base"/>
            <a:r>
              <a:rPr lang="en-US" b="1" dirty="0"/>
              <a:t>Nature :- </a:t>
            </a:r>
            <a:r>
              <a:rPr lang="en-US" dirty="0"/>
              <a:t>non-linear</a:t>
            </a:r>
          </a:p>
          <a:p>
            <a:pPr algn="just" fontAlgn="base"/>
            <a:r>
              <a:rPr lang="en-US" b="1" dirty="0"/>
              <a:t>Uses :- </a:t>
            </a:r>
            <a:r>
              <a:rPr lang="en-US" dirty="0"/>
              <a:t>Usually used when trying to handle multiple classes. The </a:t>
            </a:r>
            <a:r>
              <a:rPr lang="en-US" dirty="0" err="1"/>
              <a:t>softmax</a:t>
            </a:r>
            <a:r>
              <a:rPr lang="en-US" dirty="0"/>
              <a:t> function would squeeze the outputs for each class between 0 and 1 and would also divide by the sum of the outputs.</a:t>
            </a:r>
          </a:p>
          <a:p>
            <a:pPr algn="just" fontAlgn="base"/>
            <a:r>
              <a:rPr lang="en-US" b="1" dirty="0" err="1"/>
              <a:t>Ouput</a:t>
            </a:r>
            <a:r>
              <a:rPr lang="en-US" b="1" dirty="0"/>
              <a:t>:- </a:t>
            </a:r>
            <a:r>
              <a:rPr lang="en-US" dirty="0"/>
              <a:t>The </a:t>
            </a:r>
            <a:r>
              <a:rPr lang="en-US" dirty="0" err="1"/>
              <a:t>softmax</a:t>
            </a:r>
            <a:r>
              <a:rPr lang="en-US" dirty="0"/>
              <a:t> function is ideally used in the output layer of the classifier where we are actually trying to attain the probabilities to define the class of each input.</a:t>
            </a:r>
          </a:p>
          <a:p>
            <a:pPr algn="l"/>
            <a:endParaRPr lang="en-IN" dirty="0"/>
          </a:p>
        </p:txBody>
      </p:sp>
      <p:pic>
        <p:nvPicPr>
          <p:cNvPr id="6146" name="Picture 2" descr="Softmax Function">
            <a:extLst>
              <a:ext uri="{FF2B5EF4-FFF2-40B4-BE49-F238E27FC236}">
                <a16:creationId xmlns:a16="http://schemas.microsoft.com/office/drawing/2014/main" id="{D0DDE021-323B-4DA6-AD89-BDF8593A9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23424" y="3951768"/>
            <a:ext cx="2868575" cy="28685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5E75F21-E48E-47D4-A16C-890CFFFF2ABF}"/>
              </a:ext>
            </a:extLst>
          </p:cNvPr>
          <p:cNvSpPr/>
          <p:nvPr/>
        </p:nvSpPr>
        <p:spPr>
          <a:xfrm>
            <a:off x="226827" y="4284944"/>
            <a:ext cx="8661992" cy="1477328"/>
          </a:xfrm>
          <a:prstGeom prst="rect">
            <a:avLst/>
          </a:prstGeom>
        </p:spPr>
        <p:txBody>
          <a:bodyPr wrap="square">
            <a:spAutoFit/>
          </a:bodyPr>
          <a:lstStyle/>
          <a:p>
            <a:pPr algn="just"/>
            <a:r>
              <a:rPr lang="en-US" b="1" i="0" dirty="0" err="1">
                <a:effectLst/>
                <a:latin typeface="Open Sans"/>
              </a:rPr>
              <a:t>Softmax</a:t>
            </a:r>
            <a:r>
              <a:rPr lang="en-US" b="1" i="0" dirty="0">
                <a:effectLst/>
                <a:latin typeface="Open Sans"/>
              </a:rPr>
              <a:t> function calculates the probabilities distribution of the event over ‘n’ different events. In general way of saying, this function will calculate the probabilities of each target class over all possible target classes. Later the calculated probabilities will be helpful for determining the target class for the given inputs</a:t>
            </a:r>
            <a:r>
              <a:rPr lang="en-US" b="0" i="0" dirty="0">
                <a:solidFill>
                  <a:srgbClr val="999999"/>
                </a:solidFill>
                <a:effectLst/>
                <a:latin typeface="Open Sans"/>
              </a:rPr>
              <a:t>.</a:t>
            </a:r>
            <a:endParaRPr lang="en-IN" dirty="0"/>
          </a:p>
        </p:txBody>
      </p:sp>
    </p:spTree>
    <p:extLst>
      <p:ext uri="{BB962C8B-B14F-4D97-AF65-F5344CB8AC3E}">
        <p14:creationId xmlns:p14="http://schemas.microsoft.com/office/powerpoint/2010/main" val="1867252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6751-09BF-4AC2-8E35-1F0C3FE3699C}"/>
              </a:ext>
            </a:extLst>
          </p:cNvPr>
          <p:cNvSpPr>
            <a:spLocks noGrp="1"/>
          </p:cNvSpPr>
          <p:nvPr>
            <p:ph type="ctrTitle"/>
          </p:nvPr>
        </p:nvSpPr>
        <p:spPr>
          <a:xfrm>
            <a:off x="109870" y="0"/>
            <a:ext cx="12082130" cy="759600"/>
          </a:xfrm>
        </p:spPr>
        <p:txBody>
          <a:bodyPr>
            <a:normAutofit/>
          </a:bodyPr>
          <a:lstStyle/>
          <a:p>
            <a:r>
              <a:rPr lang="en-IN" sz="3600" b="1" dirty="0">
                <a:latin typeface="Arial" panose="020B0604020202020204" pitchFamily="34" charset="0"/>
                <a:cs typeface="Arial" panose="020B0604020202020204" pitchFamily="34" charset="0"/>
              </a:rPr>
              <a:t>Activation Function in Neural networks</a:t>
            </a:r>
          </a:p>
        </p:txBody>
      </p:sp>
      <p:graphicFrame>
        <p:nvGraphicFramePr>
          <p:cNvPr id="4" name="Table 3">
            <a:extLst>
              <a:ext uri="{FF2B5EF4-FFF2-40B4-BE49-F238E27FC236}">
                <a16:creationId xmlns:a16="http://schemas.microsoft.com/office/drawing/2014/main" id="{4316C4CF-96CA-4D8C-8AD2-C541F874D2CC}"/>
              </a:ext>
            </a:extLst>
          </p:cNvPr>
          <p:cNvGraphicFramePr>
            <a:graphicFrameLocks noGrp="1"/>
          </p:cNvGraphicFramePr>
          <p:nvPr>
            <p:extLst>
              <p:ext uri="{D42A27DB-BD31-4B8C-83A1-F6EECF244321}">
                <p14:modId xmlns:p14="http://schemas.microsoft.com/office/powerpoint/2010/main" val="821329794"/>
              </p:ext>
            </p:extLst>
          </p:nvPr>
        </p:nvGraphicFramePr>
        <p:xfrm>
          <a:off x="191385" y="759600"/>
          <a:ext cx="11791508" cy="5605838"/>
        </p:xfrm>
        <a:graphic>
          <a:graphicData uri="http://schemas.openxmlformats.org/drawingml/2006/table">
            <a:tbl>
              <a:tblPr>
                <a:tableStyleId>{775DCB02-9BB8-47FD-8907-85C794F793BA}</a:tableStyleId>
              </a:tblPr>
              <a:tblGrid>
                <a:gridCol w="907494">
                  <a:extLst>
                    <a:ext uri="{9D8B030D-6E8A-4147-A177-3AD203B41FA5}">
                      <a16:colId xmlns:a16="http://schemas.microsoft.com/office/drawing/2014/main" val="2340159608"/>
                    </a:ext>
                  </a:extLst>
                </a:gridCol>
                <a:gridCol w="5363291">
                  <a:extLst>
                    <a:ext uri="{9D8B030D-6E8A-4147-A177-3AD203B41FA5}">
                      <a16:colId xmlns:a16="http://schemas.microsoft.com/office/drawing/2014/main" val="2860465158"/>
                    </a:ext>
                  </a:extLst>
                </a:gridCol>
                <a:gridCol w="5520723">
                  <a:extLst>
                    <a:ext uri="{9D8B030D-6E8A-4147-A177-3AD203B41FA5}">
                      <a16:colId xmlns:a16="http://schemas.microsoft.com/office/drawing/2014/main" val="3900398313"/>
                    </a:ext>
                  </a:extLst>
                </a:gridCol>
              </a:tblGrid>
              <a:tr h="1057511">
                <a:tc>
                  <a:txBody>
                    <a:bodyPr/>
                    <a:lstStyle/>
                    <a:p>
                      <a:endParaRPr lang="en-IN" sz="2800">
                        <a:effectLst/>
                      </a:endParaRPr>
                    </a:p>
                  </a:txBody>
                  <a:tcPr marL="47817" marR="47817" marT="47817" marB="47817" anchor="ctr"/>
                </a:tc>
                <a:tc>
                  <a:txBody>
                    <a:bodyPr/>
                    <a:lstStyle/>
                    <a:p>
                      <a:r>
                        <a:rPr lang="en-IN" sz="2800">
                          <a:effectLst/>
                        </a:rPr>
                        <a:t>Softmax Function</a:t>
                      </a:r>
                    </a:p>
                  </a:txBody>
                  <a:tcPr marL="47817" marR="47817" marT="47817" marB="47817" anchor="ctr"/>
                </a:tc>
                <a:tc>
                  <a:txBody>
                    <a:bodyPr/>
                    <a:lstStyle/>
                    <a:p>
                      <a:r>
                        <a:rPr lang="en-IN" sz="2800">
                          <a:effectLst/>
                        </a:rPr>
                        <a:t>Sigmoid Function</a:t>
                      </a:r>
                    </a:p>
                  </a:txBody>
                  <a:tcPr marL="47817" marR="47817" marT="47817" marB="47817" anchor="ctr"/>
                </a:tc>
                <a:extLst>
                  <a:ext uri="{0D108BD9-81ED-4DB2-BD59-A6C34878D82A}">
                    <a16:rowId xmlns:a16="http://schemas.microsoft.com/office/drawing/2014/main" val="162740099"/>
                  </a:ext>
                </a:extLst>
              </a:tr>
              <a:tr h="1057511">
                <a:tc>
                  <a:txBody>
                    <a:bodyPr/>
                    <a:lstStyle/>
                    <a:p>
                      <a:r>
                        <a:rPr lang="en-IN" sz="2800">
                          <a:effectLst/>
                        </a:rPr>
                        <a:t>1</a:t>
                      </a:r>
                    </a:p>
                  </a:txBody>
                  <a:tcPr marL="47817" marR="47817" marT="47817" marB="47817" anchor="ctr"/>
                </a:tc>
                <a:tc>
                  <a:txBody>
                    <a:bodyPr/>
                    <a:lstStyle/>
                    <a:p>
                      <a:r>
                        <a:rPr lang="en-US" sz="2800" dirty="0">
                          <a:effectLst/>
                        </a:rPr>
                        <a:t>Used for multi-classification in logistic regression model.</a:t>
                      </a:r>
                    </a:p>
                  </a:txBody>
                  <a:tcPr marL="47817" marR="47817" marT="47817" marB="47817" anchor="ctr"/>
                </a:tc>
                <a:tc>
                  <a:txBody>
                    <a:bodyPr/>
                    <a:lstStyle/>
                    <a:p>
                      <a:r>
                        <a:rPr lang="en-US" sz="2800">
                          <a:effectLst/>
                        </a:rPr>
                        <a:t>Used for binary classification in logistic regression model.</a:t>
                      </a:r>
                    </a:p>
                  </a:txBody>
                  <a:tcPr marL="47817" marR="47817" marT="47817" marB="47817" anchor="ctr"/>
                </a:tc>
                <a:extLst>
                  <a:ext uri="{0D108BD9-81ED-4DB2-BD59-A6C34878D82A}">
                    <a16:rowId xmlns:a16="http://schemas.microsoft.com/office/drawing/2014/main" val="613881054"/>
                  </a:ext>
                </a:extLst>
              </a:tr>
              <a:tr h="1057511">
                <a:tc>
                  <a:txBody>
                    <a:bodyPr/>
                    <a:lstStyle/>
                    <a:p>
                      <a:r>
                        <a:rPr lang="en-IN" sz="2800">
                          <a:effectLst/>
                        </a:rPr>
                        <a:t> 2</a:t>
                      </a:r>
                    </a:p>
                  </a:txBody>
                  <a:tcPr marL="47817" marR="47817" marT="47817" marB="47817" anchor="ctr"/>
                </a:tc>
                <a:tc>
                  <a:txBody>
                    <a:bodyPr/>
                    <a:lstStyle/>
                    <a:p>
                      <a:r>
                        <a:rPr lang="en-US" sz="2800" dirty="0">
                          <a:effectLst/>
                        </a:rPr>
                        <a:t> The probabilities sum will be 1</a:t>
                      </a:r>
                    </a:p>
                  </a:txBody>
                  <a:tcPr marL="47817" marR="47817" marT="47817" marB="47817" anchor="ctr"/>
                </a:tc>
                <a:tc>
                  <a:txBody>
                    <a:bodyPr/>
                    <a:lstStyle/>
                    <a:p>
                      <a:r>
                        <a:rPr lang="en-US" sz="2800">
                          <a:effectLst/>
                        </a:rPr>
                        <a:t> The probabilities sum need not be 1.</a:t>
                      </a:r>
                    </a:p>
                  </a:txBody>
                  <a:tcPr marL="47817" marR="47817" marT="47817" marB="47817" anchor="ctr"/>
                </a:tc>
                <a:extLst>
                  <a:ext uri="{0D108BD9-81ED-4DB2-BD59-A6C34878D82A}">
                    <a16:rowId xmlns:a16="http://schemas.microsoft.com/office/drawing/2014/main" val="1866931390"/>
                  </a:ext>
                </a:extLst>
              </a:tr>
              <a:tr h="1057511">
                <a:tc>
                  <a:txBody>
                    <a:bodyPr/>
                    <a:lstStyle/>
                    <a:p>
                      <a:r>
                        <a:rPr lang="en-IN" sz="2800">
                          <a:effectLst/>
                        </a:rPr>
                        <a:t> 3</a:t>
                      </a:r>
                    </a:p>
                  </a:txBody>
                  <a:tcPr marL="47817" marR="47817" marT="47817" marB="47817" anchor="ctr"/>
                </a:tc>
                <a:tc>
                  <a:txBody>
                    <a:bodyPr/>
                    <a:lstStyle/>
                    <a:p>
                      <a:r>
                        <a:rPr lang="en-US" sz="2800">
                          <a:effectLst/>
                        </a:rPr>
                        <a:t> Used in the different layers of neural networks.</a:t>
                      </a:r>
                    </a:p>
                  </a:txBody>
                  <a:tcPr marL="47817" marR="47817" marT="47817" marB="47817" anchor="ctr"/>
                </a:tc>
                <a:tc>
                  <a:txBody>
                    <a:bodyPr/>
                    <a:lstStyle/>
                    <a:p>
                      <a:r>
                        <a:rPr lang="en-US" sz="2800">
                          <a:effectLst/>
                        </a:rPr>
                        <a:t> Used as activation function while building neural networks.</a:t>
                      </a:r>
                    </a:p>
                  </a:txBody>
                  <a:tcPr marL="47817" marR="47817" marT="47817" marB="47817" anchor="ctr"/>
                </a:tc>
                <a:extLst>
                  <a:ext uri="{0D108BD9-81ED-4DB2-BD59-A6C34878D82A}">
                    <a16:rowId xmlns:a16="http://schemas.microsoft.com/office/drawing/2014/main" val="1949135237"/>
                  </a:ext>
                </a:extLst>
              </a:tr>
              <a:tr h="1057511">
                <a:tc>
                  <a:txBody>
                    <a:bodyPr/>
                    <a:lstStyle/>
                    <a:p>
                      <a:r>
                        <a:rPr lang="en-IN" sz="2800">
                          <a:effectLst/>
                        </a:rPr>
                        <a:t> 4</a:t>
                      </a:r>
                    </a:p>
                  </a:txBody>
                  <a:tcPr marL="47817" marR="47817" marT="47817" marB="47817" anchor="ctr"/>
                </a:tc>
                <a:tc>
                  <a:txBody>
                    <a:bodyPr/>
                    <a:lstStyle/>
                    <a:p>
                      <a:r>
                        <a:rPr lang="en-US" sz="2800">
                          <a:effectLst/>
                        </a:rPr>
                        <a:t> The high value will have the higher probability than other values.</a:t>
                      </a:r>
                    </a:p>
                  </a:txBody>
                  <a:tcPr marL="47817" marR="47817" marT="47817" marB="47817" anchor="ctr"/>
                </a:tc>
                <a:tc>
                  <a:txBody>
                    <a:bodyPr/>
                    <a:lstStyle/>
                    <a:p>
                      <a:r>
                        <a:rPr lang="en-US" sz="2800" dirty="0">
                          <a:effectLst/>
                        </a:rPr>
                        <a:t> The high value will have the high probability but not the higher probability.</a:t>
                      </a:r>
                    </a:p>
                  </a:txBody>
                  <a:tcPr marL="47817" marR="47817" marT="47817" marB="47817" anchor="ctr"/>
                </a:tc>
                <a:extLst>
                  <a:ext uri="{0D108BD9-81ED-4DB2-BD59-A6C34878D82A}">
                    <a16:rowId xmlns:a16="http://schemas.microsoft.com/office/drawing/2014/main" val="2868802059"/>
                  </a:ext>
                </a:extLst>
              </a:tr>
            </a:tbl>
          </a:graphicData>
        </a:graphic>
      </p:graphicFrame>
    </p:spTree>
    <p:extLst>
      <p:ext uri="{BB962C8B-B14F-4D97-AF65-F5344CB8AC3E}">
        <p14:creationId xmlns:p14="http://schemas.microsoft.com/office/powerpoint/2010/main" val="2428793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D91A59BEFD62F44A65761B79C99AA2F" ma:contentTypeVersion="0" ma:contentTypeDescription="Create a new document." ma:contentTypeScope="" ma:versionID="c634810ca9d53342ad1d89539a301f2b">
  <xsd:schema xmlns:xsd="http://www.w3.org/2001/XMLSchema" xmlns:xs="http://www.w3.org/2001/XMLSchema" xmlns:p="http://schemas.microsoft.com/office/2006/metadata/properties" targetNamespace="http://schemas.microsoft.com/office/2006/metadata/properties" ma:root="true" ma:fieldsID="c76ef529c39306168521fdb1fa67254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FA1ECEA-0C26-4D1C-961D-D5B47B4ECC86}"/>
</file>

<file path=customXml/itemProps2.xml><?xml version="1.0" encoding="utf-8"?>
<ds:datastoreItem xmlns:ds="http://schemas.openxmlformats.org/officeDocument/2006/customXml" ds:itemID="{2461E42B-E60C-4BF4-9426-713034E33F10}"/>
</file>

<file path=customXml/itemProps3.xml><?xml version="1.0" encoding="utf-8"?>
<ds:datastoreItem xmlns:ds="http://schemas.openxmlformats.org/officeDocument/2006/customXml" ds:itemID="{177AAA57-76EC-48A0-B2A0-448C127D198B}"/>
</file>

<file path=docProps/app.xml><?xml version="1.0" encoding="utf-8"?>
<Properties xmlns="http://schemas.openxmlformats.org/officeDocument/2006/extended-properties" xmlns:vt="http://schemas.openxmlformats.org/officeDocument/2006/docPropsVTypes">
  <TotalTime>157</TotalTime>
  <Words>1638</Words>
  <Application>Microsoft Office PowerPoint</Application>
  <PresentationFormat>Widescreen</PresentationFormat>
  <Paragraphs>85</Paragraphs>
  <Slides>12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Arial</vt:lpstr>
      <vt:lpstr>Arial Black</vt:lpstr>
      <vt:lpstr>Calibri</vt:lpstr>
      <vt:lpstr>Calibri Light</vt:lpstr>
      <vt:lpstr>Consolas</vt:lpstr>
      <vt:lpstr>medium-content-serif-font</vt:lpstr>
      <vt:lpstr>Open Sans</vt:lpstr>
      <vt:lpstr>Roboto</vt:lpstr>
      <vt:lpstr>Wingdings</vt:lpstr>
      <vt:lpstr>Office Theme</vt:lpstr>
      <vt:lpstr>PowerPoint Presentation</vt:lpstr>
      <vt:lpstr>Activation Function in Neural networks</vt:lpstr>
      <vt:lpstr>PowerPoint Presentation</vt:lpstr>
      <vt:lpstr>Activation Function in Neural networks</vt:lpstr>
      <vt:lpstr>Most popular types of Activation functions</vt:lpstr>
      <vt:lpstr>PowerPoint Presentation</vt:lpstr>
      <vt:lpstr>PowerPoint Presentation</vt:lpstr>
      <vt:lpstr>PowerPoint Presentation</vt:lpstr>
      <vt:lpstr>Activation Function in Neural networks</vt:lpstr>
      <vt:lpstr>Activation Function in Neural networks</vt:lpstr>
      <vt:lpstr>Activation Function in Neural networks</vt:lpstr>
      <vt:lpstr>Activation Function in Neural networks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Activation Function in Neural networks</dc:title>
  <dc:creator>pankajagwl</dc:creator>
  <cp:lastModifiedBy>DEAN SOET</cp:lastModifiedBy>
  <cp:revision>9</cp:revision>
  <dcterms:created xsi:type="dcterms:W3CDTF">2019-03-31T09:45:39Z</dcterms:created>
  <dcterms:modified xsi:type="dcterms:W3CDTF">2025-11-01T17:28:05Z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0x0101009D91A59BEFD62F44A65761B79C99AA2F</vt:lpwstr>
  </property>
</Properties>
</file>