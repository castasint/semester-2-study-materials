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71" r:id="rId4"/>
    <p:sldId id="272" r:id="rId5"/>
    <p:sldId id="273" r:id="rId6"/>
    <p:sldId id="274" r:id="rId7"/>
    <p:sldId id="275" r:id="rId8"/>
    <p:sldId id="276" r:id="rId9"/>
    <p:sldId id="262" r:id="rId10"/>
    <p:sldId id="266" r:id="rId11"/>
    <p:sldId id="267" r:id="rId12"/>
    <p:sldId id="268" r:id="rId13"/>
    <p:sldId id="269" r:id="rId14"/>
    <p:sldId id="270" r:id="rId15"/>
    <p:sldId id="263" r:id="rId16"/>
    <p:sldId id="264" r:id="rId17"/>
    <p:sldId id="265" r:id="rId18"/>
    <p:sldId id="260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2" r:id="rId33"/>
    <p:sldId id="293" r:id="rId34"/>
    <p:sldId id="290" r:id="rId35"/>
    <p:sldId id="294" r:id="rId36"/>
    <p:sldId id="295" r:id="rId37"/>
    <p:sldId id="296" r:id="rId38"/>
    <p:sldId id="297" r:id="rId39"/>
    <p:sldId id="298" r:id="rId40"/>
    <p:sldId id="291" r:id="rId41"/>
    <p:sldId id="299" r:id="rId42"/>
    <p:sldId id="300" r:id="rId43"/>
    <p:sldId id="301" r:id="rId44"/>
    <p:sldId id="302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customXml" Target="../customXml/item2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28601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Backpropagation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990600"/>
            <a:ext cx="8686800" cy="5715000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q"/>
            </a:pPr>
            <a:r>
              <a:rPr lang="en-IN" sz="2800" b="1" dirty="0">
                <a:solidFill>
                  <a:schemeClr val="tx1"/>
                </a:solidFill>
              </a:rPr>
              <a:t>Backpropagation</a:t>
            </a:r>
            <a:r>
              <a:rPr lang="en-IN" sz="2800" dirty="0">
                <a:solidFill>
                  <a:schemeClr val="tx1"/>
                </a:solidFill>
              </a:rPr>
              <a:t>, an abbreviation for "backward propagation of errors", is a common method of training artificial neural networks used in conjunction with an optimization method such as gradient descent. </a:t>
            </a:r>
          </a:p>
          <a:p>
            <a:pPr algn="just">
              <a:buFont typeface="Wingdings" pitchFamily="2" charset="2"/>
              <a:buChar char="q"/>
            </a:pPr>
            <a:r>
              <a:rPr lang="en-IN" sz="2800" dirty="0">
                <a:solidFill>
                  <a:schemeClr val="tx1"/>
                </a:solidFill>
              </a:rPr>
              <a:t>The method calculates the gradient of a loss function with respect to all the weights in the network. </a:t>
            </a:r>
          </a:p>
          <a:p>
            <a:pPr algn="just">
              <a:buFont typeface="Wingdings" pitchFamily="2" charset="2"/>
              <a:buChar char="q"/>
            </a:pPr>
            <a:r>
              <a:rPr lang="en-IN" sz="2800" dirty="0">
                <a:solidFill>
                  <a:schemeClr val="tx1"/>
                </a:solidFill>
              </a:rPr>
              <a:t>The gradient is fed to the optimization method which in turn uses it to update the weights, in an attempt to minimize the loss function.</a:t>
            </a:r>
          </a:p>
          <a:p>
            <a:pPr algn="just">
              <a:buFont typeface="Wingdings" pitchFamily="2" charset="2"/>
              <a:buChar char="q"/>
            </a:pPr>
            <a:r>
              <a:rPr lang="en-IN" sz="2800" dirty="0">
                <a:solidFill>
                  <a:schemeClr val="tx1"/>
                </a:solidFill>
              </a:rPr>
              <a:t>Backpropagation requires a known, desired output for each input value in order to calculate the loss function gradient. It is therefore usually considered to be a supervised learning method</a:t>
            </a:r>
          </a:p>
          <a:p>
            <a:pPr algn="just"/>
            <a:endParaRPr lang="en-IN" sz="2400" dirty="0">
              <a:solidFill>
                <a:schemeClr val="tx1"/>
              </a:solidFill>
            </a:endParaRPr>
          </a:p>
          <a:p>
            <a:pPr algn="l"/>
            <a:endParaRPr lang="en-I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28601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Backpropagation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990600"/>
            <a:ext cx="8686800" cy="5715000"/>
          </a:xfrm>
        </p:spPr>
        <p:txBody>
          <a:bodyPr>
            <a:normAutofit/>
          </a:bodyPr>
          <a:lstStyle/>
          <a:p>
            <a:pPr lvl="0" algn="just"/>
            <a:r>
              <a:rPr lang="en-US" sz="2800" dirty="0" err="1">
                <a:solidFill>
                  <a:schemeClr val="tx1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Backpropagation</a:t>
            </a:r>
            <a:r>
              <a:rPr lang="en-US" sz="2800" dirty="0">
                <a:solidFill>
                  <a:schemeClr val="tx1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 requires that the activation function used by the artificial neurons (or "nodes") be differentiable.</a:t>
            </a:r>
          </a:p>
          <a:p>
            <a:pPr lvl="0" algn="just"/>
            <a:endParaRPr lang="en-US" sz="2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endParaRPr lang="en-IN" sz="2400" dirty="0">
              <a:solidFill>
                <a:schemeClr val="tx1"/>
              </a:solidFill>
            </a:endParaRPr>
          </a:p>
          <a:p>
            <a:pPr algn="l"/>
            <a:endParaRPr lang="en-I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>
            <a:lum bright="-31000"/>
          </a:blip>
          <a:srcRect/>
          <a:stretch>
            <a:fillRect/>
          </a:stretch>
        </p:blipFill>
        <p:spPr bwMode="auto">
          <a:xfrm>
            <a:off x="914400" y="533399"/>
            <a:ext cx="7086600" cy="5785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lum bright="-44000"/>
          </a:blip>
          <a:srcRect/>
          <a:stretch>
            <a:fillRect/>
          </a:stretch>
        </p:blipFill>
        <p:spPr bwMode="auto">
          <a:xfrm>
            <a:off x="304800" y="228600"/>
            <a:ext cx="85344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lum bright="-32000"/>
          </a:blip>
          <a:srcRect/>
          <a:stretch>
            <a:fillRect/>
          </a:stretch>
        </p:blipFill>
        <p:spPr bwMode="auto">
          <a:xfrm>
            <a:off x="152400" y="228600"/>
            <a:ext cx="8773297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lum bright="-59000"/>
          </a:blip>
          <a:srcRect/>
          <a:stretch>
            <a:fillRect/>
          </a:stretch>
        </p:blipFill>
        <p:spPr bwMode="auto">
          <a:xfrm>
            <a:off x="292768" y="457200"/>
            <a:ext cx="8558464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lum bright="-36000"/>
          </a:blip>
          <a:srcRect/>
          <a:stretch>
            <a:fillRect/>
          </a:stretch>
        </p:blipFill>
        <p:spPr bwMode="auto">
          <a:xfrm>
            <a:off x="838200" y="132302"/>
            <a:ext cx="7772400" cy="6278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lum bright="-40000"/>
          </a:blip>
          <a:srcRect/>
          <a:stretch>
            <a:fillRect/>
          </a:stretch>
        </p:blipFill>
        <p:spPr bwMode="auto">
          <a:xfrm>
            <a:off x="762000" y="838200"/>
            <a:ext cx="7410450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78126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Backpropagation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816975"/>
            <a:ext cx="8686800" cy="1219200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solidFill>
                  <a:schemeClr val="tx1"/>
                </a:solidFill>
              </a:rPr>
              <a:t>we’re going to use a neural network with two inputs, two hidden neurons, two output neurons. Additionally, the hidden and output neurons will include a bias.</a:t>
            </a:r>
          </a:p>
          <a:p>
            <a:pPr algn="l"/>
            <a:endParaRPr lang="en-IN" sz="2400" dirty="0"/>
          </a:p>
        </p:txBody>
      </p:sp>
      <p:pic>
        <p:nvPicPr>
          <p:cNvPr id="4098" name="Picture 2" descr="neural_network (9)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2057400"/>
            <a:ext cx="7010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28601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Backpropagation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990600"/>
            <a:ext cx="8686800" cy="57150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IN" sz="2800" dirty="0">
                <a:solidFill>
                  <a:schemeClr val="tx1"/>
                </a:solidFill>
              </a:rPr>
              <a:t>The goal of </a:t>
            </a:r>
            <a:r>
              <a:rPr lang="en-IN" sz="2800" dirty="0" err="1">
                <a:solidFill>
                  <a:schemeClr val="tx1"/>
                </a:solidFill>
              </a:rPr>
              <a:t>backpropagation</a:t>
            </a:r>
            <a:r>
              <a:rPr lang="en-IN" sz="2800" dirty="0">
                <a:solidFill>
                  <a:schemeClr val="tx1"/>
                </a:solidFill>
              </a:rPr>
              <a:t> is to optimize the weights so that the neural network can learn how to correctly map arbitrary inputs to outputs.</a:t>
            </a:r>
          </a:p>
          <a:p>
            <a:pPr algn="just">
              <a:buFont typeface="Wingdings" pitchFamily="2" charset="2"/>
              <a:buChar char="q"/>
            </a:pPr>
            <a:r>
              <a:rPr lang="en-IN" sz="2800" dirty="0">
                <a:solidFill>
                  <a:schemeClr val="tx1"/>
                </a:solidFill>
              </a:rPr>
              <a:t>Let the given inputs be </a:t>
            </a:r>
            <a:r>
              <a:rPr lang="en-IN" sz="2800" b="1" dirty="0">
                <a:solidFill>
                  <a:schemeClr val="tx1"/>
                </a:solidFill>
              </a:rPr>
              <a:t>0.05 and 0.10</a:t>
            </a:r>
            <a:r>
              <a:rPr lang="en-IN" sz="2800" dirty="0">
                <a:solidFill>
                  <a:schemeClr val="tx1"/>
                </a:solidFill>
              </a:rPr>
              <a:t>, we want the neural network to output </a:t>
            </a:r>
            <a:r>
              <a:rPr lang="en-IN" sz="2800" b="1" dirty="0">
                <a:solidFill>
                  <a:schemeClr val="tx1"/>
                </a:solidFill>
              </a:rPr>
              <a:t>0.01 and 0.99</a:t>
            </a:r>
            <a:r>
              <a:rPr lang="en-IN" sz="2800" dirty="0">
                <a:solidFill>
                  <a:schemeClr val="tx1"/>
                </a:solidFill>
              </a:rPr>
              <a:t>.</a:t>
            </a:r>
          </a:p>
          <a:p>
            <a:r>
              <a:rPr lang="en-IN" sz="2800" b="1" dirty="0">
                <a:solidFill>
                  <a:srgbClr val="FF0000"/>
                </a:solidFill>
              </a:rPr>
              <a:t> THE FORWARD PASS</a:t>
            </a:r>
          </a:p>
          <a:p>
            <a:pPr algn="just">
              <a:buFont typeface="Wingdings" pitchFamily="2" charset="2"/>
              <a:buChar char="q"/>
            </a:pPr>
            <a:r>
              <a:rPr lang="en-IN" sz="2800" dirty="0">
                <a:solidFill>
                  <a:schemeClr val="tx1"/>
                </a:solidFill>
              </a:rPr>
              <a:t>We figure out the </a:t>
            </a:r>
            <a:r>
              <a:rPr lang="en-IN" sz="2800" i="1" dirty="0">
                <a:solidFill>
                  <a:schemeClr val="tx1"/>
                </a:solidFill>
              </a:rPr>
              <a:t>total net input</a:t>
            </a:r>
            <a:r>
              <a:rPr lang="en-IN" sz="2800" dirty="0">
                <a:solidFill>
                  <a:schemeClr val="tx1"/>
                </a:solidFill>
              </a:rPr>
              <a:t> to each hidden layer neuron, </a:t>
            </a:r>
            <a:r>
              <a:rPr lang="en-IN" sz="2800" i="1" dirty="0">
                <a:solidFill>
                  <a:schemeClr val="tx1"/>
                </a:solidFill>
              </a:rPr>
              <a:t>squash</a:t>
            </a:r>
            <a:r>
              <a:rPr lang="en-IN" sz="2800" dirty="0">
                <a:solidFill>
                  <a:schemeClr val="tx1"/>
                </a:solidFill>
              </a:rPr>
              <a:t> the total net input using an </a:t>
            </a:r>
            <a:r>
              <a:rPr lang="en-IN" sz="2800" i="1" dirty="0">
                <a:solidFill>
                  <a:schemeClr val="tx1"/>
                </a:solidFill>
              </a:rPr>
              <a:t>activation function</a:t>
            </a:r>
            <a:r>
              <a:rPr lang="en-IN" sz="2800" dirty="0">
                <a:solidFill>
                  <a:schemeClr val="tx1"/>
                </a:solidFill>
              </a:rPr>
              <a:t> (here we use the </a:t>
            </a:r>
            <a:r>
              <a:rPr lang="en-IN" sz="2800" i="1" dirty="0">
                <a:solidFill>
                  <a:schemeClr val="tx1"/>
                </a:solidFill>
              </a:rPr>
              <a:t>logistic function</a:t>
            </a:r>
            <a:r>
              <a:rPr lang="en-IN" sz="2800" dirty="0">
                <a:solidFill>
                  <a:schemeClr val="tx1"/>
                </a:solidFill>
              </a:rPr>
              <a:t>), then repeat the process with the output layer neurons.</a:t>
            </a:r>
          </a:p>
          <a:p>
            <a:pPr algn="just">
              <a:buFont typeface="Wingdings" pitchFamily="2" charset="2"/>
              <a:buChar char="q"/>
            </a:pPr>
            <a:endParaRPr lang="en-IN" sz="2800" dirty="0">
              <a:solidFill>
                <a:schemeClr val="tx1"/>
              </a:solidFill>
            </a:endParaRPr>
          </a:p>
          <a:p>
            <a:pPr algn="just"/>
            <a:endParaRPr lang="en-IN" sz="2800" dirty="0">
              <a:solidFill>
                <a:schemeClr val="tx1"/>
              </a:solidFill>
            </a:endParaRPr>
          </a:p>
          <a:p>
            <a:pPr algn="just"/>
            <a:endParaRPr lang="en-IN" sz="2400" dirty="0">
              <a:solidFill>
                <a:schemeClr val="tx1"/>
              </a:solidFill>
            </a:endParaRPr>
          </a:p>
          <a:p>
            <a:pPr algn="just"/>
            <a:endParaRPr lang="en-IN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28601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Backpropagation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990600"/>
            <a:ext cx="6553200" cy="4572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IN" sz="3300" dirty="0">
                <a:solidFill>
                  <a:schemeClr val="tx1"/>
                </a:solidFill>
              </a:rPr>
              <a:t>Here’s how we calculate the total net input for :</a:t>
            </a:r>
          </a:p>
          <a:p>
            <a:pPr algn="just"/>
            <a:endParaRPr lang="en-IN" sz="2400" dirty="0">
              <a:solidFill>
                <a:schemeClr val="tx1"/>
              </a:solidFill>
            </a:endParaRPr>
          </a:p>
          <a:p>
            <a:pPr algn="l"/>
            <a:endParaRPr lang="en-IN" sz="2400" dirty="0"/>
          </a:p>
        </p:txBody>
      </p:sp>
      <p:pic>
        <p:nvPicPr>
          <p:cNvPr id="23554" name="Picture 2" descr="h_1"/>
          <p:cNvPicPr>
            <a:picLocks noChangeAspect="1" noChangeArrowheads="1"/>
          </p:cNvPicPr>
          <p:nvPr/>
        </p:nvPicPr>
        <p:blipFill>
          <a:blip r:embed="rId2">
            <a:lum bright="-47000"/>
          </a:blip>
          <a:srcRect/>
          <a:stretch>
            <a:fillRect/>
          </a:stretch>
        </p:blipFill>
        <p:spPr bwMode="auto">
          <a:xfrm>
            <a:off x="6248400" y="990600"/>
            <a:ext cx="421641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3" descr="net_{h1} = w_1 * i_1 + w_2 * i_2 + b_1 * 1"/>
          <p:cNvPicPr>
            <a:picLocks noChangeAspect="1" noChangeArrowheads="1"/>
          </p:cNvPicPr>
          <p:nvPr/>
        </p:nvPicPr>
        <p:blipFill>
          <a:blip r:embed="rId3">
            <a:lum bright="-37000"/>
          </a:blip>
          <a:srcRect/>
          <a:stretch>
            <a:fillRect/>
          </a:stretch>
        </p:blipFill>
        <p:spPr bwMode="auto">
          <a:xfrm>
            <a:off x="762000" y="1752600"/>
            <a:ext cx="537765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6" name="Picture 4" descr="net_{h1} = 0.15 * 0.05 + 0.2 * 0.1 + 0.35 * 1 = 0.3775"/>
          <p:cNvPicPr>
            <a:picLocks noChangeAspect="1" noChangeArrowheads="1"/>
          </p:cNvPicPr>
          <p:nvPr/>
        </p:nvPicPr>
        <p:blipFill>
          <a:blip r:embed="rId4">
            <a:lum bright="-36000"/>
          </a:blip>
          <a:srcRect/>
          <a:stretch>
            <a:fillRect/>
          </a:stretch>
        </p:blipFill>
        <p:spPr bwMode="auto">
          <a:xfrm>
            <a:off x="685800" y="2362200"/>
            <a:ext cx="7745744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304800" y="2895600"/>
            <a:ext cx="85344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/>
              <a:t>We then squash it using the logistic function to get the output of </a:t>
            </a:r>
          </a:p>
        </p:txBody>
      </p:sp>
      <p:pic>
        <p:nvPicPr>
          <p:cNvPr id="8" name="Picture 2" descr="h_1"/>
          <p:cNvPicPr>
            <a:picLocks noChangeAspect="1" noChangeArrowheads="1"/>
          </p:cNvPicPr>
          <p:nvPr/>
        </p:nvPicPr>
        <p:blipFill>
          <a:blip r:embed="rId2">
            <a:lum bright="-47000"/>
          </a:blip>
          <a:srcRect/>
          <a:stretch>
            <a:fillRect/>
          </a:stretch>
        </p:blipFill>
        <p:spPr bwMode="auto">
          <a:xfrm>
            <a:off x="2057400" y="3352800"/>
            <a:ext cx="421641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7" name="Picture 5" descr="out_{h1} = \frac{1}{1+e^{-net_{h1}}} = \frac{1}{1+e^{-0.3775}} = 0.593269992"/>
          <p:cNvPicPr>
            <a:picLocks noChangeAspect="1" noChangeArrowheads="1"/>
          </p:cNvPicPr>
          <p:nvPr/>
        </p:nvPicPr>
        <p:blipFill>
          <a:blip r:embed="rId5">
            <a:lum bright="-31000"/>
          </a:blip>
          <a:srcRect/>
          <a:stretch>
            <a:fillRect/>
          </a:stretch>
        </p:blipFill>
        <p:spPr bwMode="auto">
          <a:xfrm>
            <a:off x="609600" y="4191000"/>
            <a:ext cx="7553766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43401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Backpropagation</a:t>
            </a:r>
            <a:endParaRPr lang="en-IN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lum bright="-38000"/>
          </a:blip>
          <a:srcRect/>
          <a:stretch>
            <a:fillRect/>
          </a:stretch>
        </p:blipFill>
        <p:spPr bwMode="auto">
          <a:xfrm>
            <a:off x="94525" y="838200"/>
            <a:ext cx="89916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28601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Backpropagation</a:t>
            </a:r>
            <a:endParaRPr lang="en-IN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lum bright="-38000"/>
          </a:blip>
          <a:srcRect/>
          <a:stretch>
            <a:fillRect/>
          </a:stretch>
        </p:blipFill>
        <p:spPr bwMode="auto">
          <a:xfrm>
            <a:off x="0" y="914400"/>
            <a:ext cx="9153144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3124200"/>
            <a:ext cx="882015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28601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Backpropagation</a:t>
            </a:r>
            <a:endParaRPr lang="en-IN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lum bright="-40000"/>
          </a:blip>
          <a:srcRect/>
          <a:stretch>
            <a:fillRect/>
          </a:stretch>
        </p:blipFill>
        <p:spPr bwMode="auto">
          <a:xfrm>
            <a:off x="152400" y="846874"/>
            <a:ext cx="8686800" cy="395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990600"/>
            <a:ext cx="8686800" cy="5715000"/>
          </a:xfrm>
        </p:spPr>
        <p:txBody>
          <a:bodyPr>
            <a:normAutofit/>
          </a:bodyPr>
          <a:lstStyle/>
          <a:p>
            <a:pPr algn="just"/>
            <a:endParaRPr lang="en-IN" sz="2400" dirty="0">
              <a:solidFill>
                <a:schemeClr val="tx1"/>
              </a:solidFill>
            </a:endParaRPr>
          </a:p>
          <a:p>
            <a:pPr algn="l"/>
            <a:endParaRPr lang="en-IN" sz="2400" dirty="0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>
            <a:lum bright="-54000"/>
          </a:blip>
          <a:srcRect/>
          <a:stretch>
            <a:fillRect/>
          </a:stretch>
        </p:blipFill>
        <p:spPr bwMode="auto">
          <a:xfrm>
            <a:off x="85725" y="381000"/>
            <a:ext cx="897255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990600"/>
            <a:ext cx="8686800" cy="5715000"/>
          </a:xfrm>
        </p:spPr>
        <p:txBody>
          <a:bodyPr>
            <a:normAutofit/>
          </a:bodyPr>
          <a:lstStyle/>
          <a:p>
            <a:pPr algn="just"/>
            <a:endParaRPr lang="en-IN" sz="2400" dirty="0">
              <a:solidFill>
                <a:schemeClr val="tx1"/>
              </a:solidFill>
            </a:endParaRPr>
          </a:p>
          <a:p>
            <a:pPr algn="l"/>
            <a:endParaRPr lang="en-IN" sz="2400" dirty="0"/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>
            <a:lum bright="-40000"/>
          </a:blip>
          <a:srcRect/>
          <a:stretch>
            <a:fillRect/>
          </a:stretch>
        </p:blipFill>
        <p:spPr bwMode="auto">
          <a:xfrm>
            <a:off x="34725" y="619125"/>
            <a:ext cx="8991600" cy="561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990600"/>
            <a:ext cx="8686800" cy="5715000"/>
          </a:xfrm>
        </p:spPr>
        <p:txBody>
          <a:bodyPr>
            <a:normAutofit/>
          </a:bodyPr>
          <a:lstStyle/>
          <a:p>
            <a:pPr algn="just"/>
            <a:endParaRPr lang="en-IN" sz="2400" dirty="0">
              <a:solidFill>
                <a:schemeClr val="tx1"/>
              </a:solidFill>
            </a:endParaRPr>
          </a:p>
          <a:p>
            <a:pPr algn="l"/>
            <a:endParaRPr lang="en-IN" sz="2400" dirty="0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lum bright="-48000"/>
          </a:blip>
          <a:srcRect/>
          <a:stretch>
            <a:fillRect/>
          </a:stretch>
        </p:blipFill>
        <p:spPr bwMode="auto">
          <a:xfrm>
            <a:off x="228600" y="304800"/>
            <a:ext cx="8429625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lum bright="-38000"/>
          </a:blip>
          <a:srcRect/>
          <a:stretch>
            <a:fillRect/>
          </a:stretch>
        </p:blipFill>
        <p:spPr bwMode="auto">
          <a:xfrm>
            <a:off x="165900" y="3407775"/>
            <a:ext cx="8565715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lum bright="-40000"/>
          </a:blip>
          <a:srcRect/>
          <a:stretch>
            <a:fillRect/>
          </a:stretch>
        </p:blipFill>
        <p:spPr bwMode="auto">
          <a:xfrm>
            <a:off x="152400" y="46300"/>
            <a:ext cx="8839200" cy="323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3">
            <a:lum bright="-47000"/>
          </a:blip>
          <a:srcRect/>
          <a:stretch>
            <a:fillRect/>
          </a:stretch>
        </p:blipFill>
        <p:spPr bwMode="auto">
          <a:xfrm>
            <a:off x="152400" y="3387525"/>
            <a:ext cx="8839200" cy="313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lum bright="-41000"/>
          </a:blip>
          <a:srcRect/>
          <a:stretch>
            <a:fillRect/>
          </a:stretch>
        </p:blipFill>
        <p:spPr bwMode="auto">
          <a:xfrm>
            <a:off x="189050" y="228600"/>
            <a:ext cx="8793079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3">
            <a:lum bright="-48000"/>
          </a:blip>
          <a:srcRect/>
          <a:stretch>
            <a:fillRect/>
          </a:stretch>
        </p:blipFill>
        <p:spPr bwMode="auto">
          <a:xfrm>
            <a:off x="161925" y="1570750"/>
            <a:ext cx="8820150" cy="17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4">
            <a:lum bright="-40000"/>
          </a:blip>
          <a:srcRect/>
          <a:stretch>
            <a:fillRect/>
          </a:stretch>
        </p:blipFill>
        <p:spPr bwMode="auto">
          <a:xfrm>
            <a:off x="1447800" y="3416450"/>
            <a:ext cx="5943600" cy="881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797" name="Picture 5"/>
          <p:cNvPicPr>
            <a:picLocks noChangeAspect="1" noChangeArrowheads="1"/>
          </p:cNvPicPr>
          <p:nvPr/>
        </p:nvPicPr>
        <p:blipFill>
          <a:blip r:embed="rId5">
            <a:lum bright="-50000"/>
          </a:blip>
          <a:srcRect/>
          <a:stretch>
            <a:fillRect/>
          </a:stretch>
        </p:blipFill>
        <p:spPr bwMode="auto">
          <a:xfrm>
            <a:off x="381000" y="4350150"/>
            <a:ext cx="847725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lum bright="-40000"/>
          </a:blip>
          <a:srcRect/>
          <a:stretch>
            <a:fillRect/>
          </a:stretch>
        </p:blipFill>
        <p:spPr bwMode="auto">
          <a:xfrm>
            <a:off x="258499" y="142750"/>
            <a:ext cx="8585555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3">
            <a:lum bright="-36000"/>
          </a:blip>
          <a:srcRect/>
          <a:stretch>
            <a:fillRect/>
          </a:stretch>
        </p:blipFill>
        <p:spPr bwMode="auto">
          <a:xfrm>
            <a:off x="533400" y="2225225"/>
            <a:ext cx="8013014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2">
            <a:lum bright="-43000"/>
          </a:blip>
          <a:srcRect/>
          <a:stretch>
            <a:fillRect/>
          </a:stretch>
        </p:blipFill>
        <p:spPr bwMode="auto">
          <a:xfrm>
            <a:off x="1066800" y="1000250"/>
            <a:ext cx="7138987" cy="5765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584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0"/>
            <a:ext cx="860107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lum bright="-41000"/>
          </a:blip>
          <a:srcRect/>
          <a:stretch>
            <a:fillRect/>
          </a:stretch>
        </p:blipFill>
        <p:spPr bwMode="auto">
          <a:xfrm>
            <a:off x="606700" y="195799"/>
            <a:ext cx="8077200" cy="6374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lum bright="-48000"/>
          </a:blip>
          <a:srcRect/>
          <a:stretch>
            <a:fillRect/>
          </a:stretch>
        </p:blipFill>
        <p:spPr bwMode="auto">
          <a:xfrm>
            <a:off x="0" y="314325"/>
            <a:ext cx="9172575" cy="622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761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lum bright="-50000"/>
          </a:blip>
          <a:srcRect/>
          <a:stretch>
            <a:fillRect/>
          </a:stretch>
        </p:blipFill>
        <p:spPr bwMode="auto">
          <a:xfrm>
            <a:off x="228600" y="533400"/>
            <a:ext cx="87630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6775" y="638175"/>
            <a:ext cx="8559562" cy="50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IN" dirty="0"/>
              <a:t>Another example</a:t>
            </a:r>
          </a:p>
        </p:txBody>
      </p:sp>
      <p:pic>
        <p:nvPicPr>
          <p:cNvPr id="4" name="Picture 3" descr="android-tabs">
            <a:extLst>
              <a:ext uri="{FF2B5EF4-FFF2-40B4-BE49-F238E27FC236}">
                <a16:creationId xmlns:a16="http://schemas.microsoft.com/office/drawing/2014/main" id="{EEBE07D0-E97B-470E-AB8B-BF2BCFAB3DD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90600"/>
            <a:ext cx="8229600" cy="54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04B20D54-A9F8-4308-9EEB-846A1D488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89" y="26620"/>
            <a:ext cx="90678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Neural network training is about finding weights that minimize prediction error. We usually start our training with a set of randomly generated weights. Then, backpropagation is used to update the weights in an attempt to correctly map arbitrary inputs to outputs.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Our initial weights will be as following: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64FC7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w1 = 0.11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,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64FC7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w2 = 0.21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,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64FC7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w3 = 0.12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,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64FC7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w4 = 0.08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,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64FC7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w5 = 0.14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 and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64FC7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w6 = 0.15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 descr="bp_weights">
            <a:extLst>
              <a:ext uri="{FF2B5EF4-FFF2-40B4-BE49-F238E27FC236}">
                <a16:creationId xmlns:a16="http://schemas.microsoft.com/office/drawing/2014/main" id="{3E25659F-E6CF-4EE3-BA34-C3C098CBB8E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704276"/>
            <a:ext cx="7162800" cy="400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0DF158-C4D8-4831-A371-54C5CEA7A323}"/>
              </a:ext>
            </a:extLst>
          </p:cNvPr>
          <p:cNvSpPr/>
          <p:nvPr/>
        </p:nvSpPr>
        <p:spPr>
          <a:xfrm>
            <a:off x="228600" y="76200"/>
            <a:ext cx="8763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Dataset</a:t>
            </a:r>
            <a:endParaRPr lang="en-IN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Our dataset has one sample with two inputs and one output.</a:t>
            </a:r>
            <a:r>
              <a:rPr lang="en-IN" b="1" dirty="0"/>
              <a:t> </a:t>
            </a:r>
          </a:p>
          <a:p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 descr="dataset">
            <a:extLst>
              <a:ext uri="{FF2B5EF4-FFF2-40B4-BE49-F238E27FC236}">
                <a16:creationId xmlns:a16="http://schemas.microsoft.com/office/drawing/2014/main" id="{B476B024-D863-4294-B4D0-7CCBC86D84BE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22" y="990600"/>
            <a:ext cx="3819878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2EAC564-6DD7-49F4-889D-085081510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8" y="2638427"/>
            <a:ext cx="870232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Our single sample is as following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64FC7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inputs=[2,3]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 and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64FC7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output=[1]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 descr="training_sample">
            <a:extLst>
              <a:ext uri="{FF2B5EF4-FFF2-40B4-BE49-F238E27FC236}">
                <a16:creationId xmlns:a16="http://schemas.microsoft.com/office/drawing/2014/main" id="{0638E332-095B-4A0E-B99D-7BE073270167}"/>
              </a:ext>
            </a:extLst>
          </p:cNvPr>
          <p:cNvPicPr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1" y="968022"/>
            <a:ext cx="34290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982E40B-811E-496D-B124-91C846519366}"/>
              </a:ext>
            </a:extLst>
          </p:cNvPr>
          <p:cNvSpPr/>
          <p:nvPr/>
        </p:nvSpPr>
        <p:spPr>
          <a:xfrm>
            <a:off x="86078" y="3038537"/>
            <a:ext cx="8794044" cy="1097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Forward Pass</a:t>
            </a:r>
            <a:endParaRPr lang="en-IN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2040"/>
              </a:lnSpc>
            </a:pPr>
            <a:r>
              <a:rPr lang="en-IN" b="1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We will use given weights and inputs to predict the output. Inputs are multiplied by weights; the results are then passed forward to next layer.</a:t>
            </a:r>
            <a:endParaRPr lang="en-IN" sz="1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4990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p_forward">
            <a:extLst>
              <a:ext uri="{FF2B5EF4-FFF2-40B4-BE49-F238E27FC236}">
                <a16:creationId xmlns:a16="http://schemas.microsoft.com/office/drawing/2014/main" id="{2FE0B07B-608C-4AB0-9722-634010FDDEF4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"/>
            <a:ext cx="8458200" cy="6477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80475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D6D8E9-662D-4073-A43C-EBEB0B16F22F}"/>
              </a:ext>
            </a:extLst>
          </p:cNvPr>
          <p:cNvSpPr/>
          <p:nvPr/>
        </p:nvSpPr>
        <p:spPr>
          <a:xfrm>
            <a:off x="152400" y="76201"/>
            <a:ext cx="8915400" cy="2124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Calculating Error</a:t>
            </a:r>
            <a:endParaRPr lang="en-IN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ts val="2040"/>
              </a:lnSpc>
            </a:pPr>
            <a:endParaRPr lang="en-IN" sz="2000" b="1" dirty="0">
              <a:solidFill>
                <a:srgbClr val="000000"/>
              </a:solidFill>
              <a:latin typeface="Source Sans Pro" panose="020B0503030403020204" pitchFamily="34" charset="0"/>
              <a:ea typeface="Times New Roman" panose="02020603050405020304" pitchFamily="18" charset="0"/>
            </a:endParaRPr>
          </a:p>
          <a:p>
            <a:pPr algn="just">
              <a:lnSpc>
                <a:spcPts val="2040"/>
              </a:lnSpc>
            </a:pPr>
            <a:r>
              <a:rPr lang="en-IN" sz="2000" b="1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Now, it’s time to find out how our network performed by calculating the difference between the actual output and predicted one. It’s clear that our network output, or </a:t>
            </a:r>
            <a:r>
              <a:rPr lang="en-IN" sz="2000" b="1" dirty="0">
                <a:solidFill>
                  <a:srgbClr val="333333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prediction</a:t>
            </a:r>
            <a:r>
              <a:rPr lang="en-IN" sz="2000" b="1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, is not even close to </a:t>
            </a:r>
            <a:r>
              <a:rPr lang="en-IN" sz="2000" b="1" dirty="0">
                <a:solidFill>
                  <a:srgbClr val="333333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actual output</a:t>
            </a:r>
            <a:r>
              <a:rPr lang="en-IN" sz="2000" b="1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. </a:t>
            </a:r>
          </a:p>
          <a:p>
            <a:pPr algn="just">
              <a:lnSpc>
                <a:spcPts val="2040"/>
              </a:lnSpc>
            </a:pPr>
            <a:endParaRPr lang="en-IN" sz="2000" b="1" dirty="0">
              <a:solidFill>
                <a:srgbClr val="000000"/>
              </a:solidFill>
              <a:latin typeface="Source Sans Pro" panose="020B0503030403020204" pitchFamily="34" charset="0"/>
              <a:ea typeface="Times New Roman" panose="02020603050405020304" pitchFamily="18" charset="0"/>
            </a:endParaRPr>
          </a:p>
          <a:p>
            <a:pPr algn="just">
              <a:lnSpc>
                <a:spcPts val="2040"/>
              </a:lnSpc>
            </a:pPr>
            <a:r>
              <a:rPr lang="en-IN" sz="2000" b="1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We can calculate the difference or the error as following.</a:t>
            </a:r>
            <a:endParaRPr lang="en-IN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 descr="bp_error">
            <a:extLst>
              <a:ext uri="{FF2B5EF4-FFF2-40B4-BE49-F238E27FC236}">
                <a16:creationId xmlns:a16="http://schemas.microsoft.com/office/drawing/2014/main" id="{8CB25613-7FA8-4B4B-A614-531303503E80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000"/>
                    </a14:imgEffect>
                    <a14:imgEffect>
                      <a14:brightnessContrast bright="-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01141"/>
            <a:ext cx="8001000" cy="45806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50304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AC53EC-A540-43DE-89B7-DB0EE0532AE6}"/>
              </a:ext>
            </a:extLst>
          </p:cNvPr>
          <p:cNvSpPr/>
          <p:nvPr/>
        </p:nvSpPr>
        <p:spPr>
          <a:xfrm>
            <a:off x="228600" y="152400"/>
            <a:ext cx="8763000" cy="34073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Reducing Error</a:t>
            </a:r>
            <a:endParaRPr lang="en-IN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ts val="2040"/>
              </a:lnSpc>
            </a:pPr>
            <a:endParaRPr lang="en-IN" sz="2000" b="1" dirty="0">
              <a:solidFill>
                <a:srgbClr val="000000"/>
              </a:solidFill>
              <a:latin typeface="Source Sans Pro" panose="020B0503030403020204" pitchFamily="34" charset="0"/>
              <a:ea typeface="Times New Roman" panose="02020603050405020304" pitchFamily="18" charset="0"/>
            </a:endParaRPr>
          </a:p>
          <a:p>
            <a:pPr algn="just">
              <a:lnSpc>
                <a:spcPts val="2040"/>
              </a:lnSpc>
            </a:pPr>
            <a:r>
              <a:rPr lang="en-IN" sz="2000" b="1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Our main goal of the training is to reduce the </a:t>
            </a:r>
            <a:r>
              <a:rPr lang="en-IN" sz="2000" b="1" dirty="0">
                <a:solidFill>
                  <a:srgbClr val="333333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error</a:t>
            </a:r>
            <a:r>
              <a:rPr lang="en-IN" sz="2000" b="1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 or the difference between </a:t>
            </a:r>
            <a:r>
              <a:rPr lang="en-IN" sz="2000" b="1" dirty="0">
                <a:solidFill>
                  <a:srgbClr val="333333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prediction</a:t>
            </a:r>
            <a:r>
              <a:rPr lang="en-IN" sz="2000" b="1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 and </a:t>
            </a:r>
            <a:r>
              <a:rPr lang="en-IN" sz="2000" b="1" dirty="0">
                <a:solidFill>
                  <a:srgbClr val="333333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actual output</a:t>
            </a:r>
            <a:r>
              <a:rPr lang="en-IN" sz="2000" b="1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. Since </a:t>
            </a:r>
            <a:r>
              <a:rPr lang="en-IN" sz="2000" b="1" dirty="0">
                <a:solidFill>
                  <a:srgbClr val="333333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actual output</a:t>
            </a:r>
            <a:r>
              <a:rPr lang="en-IN" sz="2000" b="1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 is constant, “not changing”, the only way to reduce the error is to change </a:t>
            </a:r>
            <a:r>
              <a:rPr lang="en-IN" sz="2000" b="1" dirty="0">
                <a:solidFill>
                  <a:srgbClr val="333333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prediction</a:t>
            </a:r>
            <a:r>
              <a:rPr lang="en-IN" sz="2000" b="1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 value. </a:t>
            </a:r>
          </a:p>
          <a:p>
            <a:pPr algn="just">
              <a:lnSpc>
                <a:spcPts val="2040"/>
              </a:lnSpc>
            </a:pPr>
            <a:endParaRPr lang="en-IN" sz="2000" b="1" dirty="0">
              <a:solidFill>
                <a:srgbClr val="000000"/>
              </a:solidFill>
              <a:latin typeface="Source Sans Pro" panose="020B0503030403020204" pitchFamily="34" charset="0"/>
              <a:ea typeface="Times New Roman" panose="02020603050405020304" pitchFamily="18" charset="0"/>
            </a:endParaRPr>
          </a:p>
          <a:p>
            <a:pPr algn="just">
              <a:lnSpc>
                <a:spcPts val="2040"/>
              </a:lnSpc>
            </a:pPr>
            <a:r>
              <a:rPr lang="en-IN" sz="2000" b="1" dirty="0">
                <a:solidFill>
                  <a:srgbClr val="FF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The question now is, how to change prediction value?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ts val="2040"/>
              </a:lnSpc>
            </a:pPr>
            <a:endParaRPr lang="en-IN" sz="2000" b="1" dirty="0">
              <a:solidFill>
                <a:srgbClr val="000000"/>
              </a:solidFill>
              <a:latin typeface="Source Sans Pro" panose="020B0503030403020204" pitchFamily="34" charset="0"/>
              <a:ea typeface="Times New Roman" panose="02020603050405020304" pitchFamily="18" charset="0"/>
            </a:endParaRPr>
          </a:p>
          <a:p>
            <a:pPr algn="just">
              <a:lnSpc>
                <a:spcPts val="2040"/>
              </a:lnSpc>
            </a:pPr>
            <a:r>
              <a:rPr lang="en-IN" sz="2000" b="1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By decomposing </a:t>
            </a:r>
            <a:r>
              <a:rPr lang="en-IN" sz="2000" b="1" dirty="0">
                <a:solidFill>
                  <a:srgbClr val="333333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prediction</a:t>
            </a:r>
            <a:r>
              <a:rPr lang="en-IN" sz="2000" b="1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 into its basic elements we can find that </a:t>
            </a:r>
            <a:r>
              <a:rPr lang="en-IN" sz="2000" b="1" dirty="0">
                <a:solidFill>
                  <a:srgbClr val="333333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weights</a:t>
            </a:r>
            <a:r>
              <a:rPr lang="en-IN" sz="2000" b="1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 are the variable elements affecting </a:t>
            </a:r>
            <a:r>
              <a:rPr lang="en-IN" sz="2000" b="1" dirty="0">
                <a:solidFill>
                  <a:srgbClr val="333333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prediction</a:t>
            </a:r>
            <a:r>
              <a:rPr lang="en-IN" sz="2000" b="1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 value. In other words, in order to change </a:t>
            </a:r>
            <a:r>
              <a:rPr lang="en-IN" sz="2000" b="1" dirty="0">
                <a:solidFill>
                  <a:srgbClr val="333333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prediction</a:t>
            </a:r>
            <a:r>
              <a:rPr lang="en-IN" sz="2000" b="1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 value, we need to change </a:t>
            </a:r>
            <a:r>
              <a:rPr lang="en-IN" sz="2000" b="1" dirty="0">
                <a:solidFill>
                  <a:srgbClr val="333333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weights</a:t>
            </a:r>
            <a:r>
              <a:rPr lang="en-IN" sz="2000" b="1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 values.</a:t>
            </a:r>
            <a:endParaRPr lang="en-IN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 descr="bp_prediction_elements">
            <a:extLst>
              <a:ext uri="{FF2B5EF4-FFF2-40B4-BE49-F238E27FC236}">
                <a16:creationId xmlns:a16="http://schemas.microsoft.com/office/drawing/2014/main" id="{85E73300-C1C3-4947-B73E-D47A4442D668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559743"/>
            <a:ext cx="7162800" cy="31458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56726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681AD0-6C2B-4463-82CD-F692395BB9C7}"/>
              </a:ext>
            </a:extLst>
          </p:cNvPr>
          <p:cNvSpPr/>
          <p:nvPr/>
        </p:nvSpPr>
        <p:spPr>
          <a:xfrm>
            <a:off x="228600" y="228600"/>
            <a:ext cx="8763000" cy="1132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</a:pPr>
            <a:r>
              <a:rPr lang="en-IN" sz="2400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The question now is </a:t>
            </a:r>
            <a:r>
              <a:rPr lang="en-IN" sz="2400" b="1" dirty="0">
                <a:solidFill>
                  <a:srgbClr val="333333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how to change\update the weights value so that the error is reduced?</a:t>
            </a:r>
          </a:p>
          <a:p>
            <a:pPr>
              <a:lnSpc>
                <a:spcPts val="2040"/>
              </a:lnSpc>
              <a:spcAft>
                <a:spcPts val="0"/>
              </a:spcAft>
            </a:pPr>
            <a:br>
              <a:rPr lang="en-IN" sz="2400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</a:br>
            <a:r>
              <a:rPr lang="en-IN" sz="2400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The answer is </a:t>
            </a:r>
            <a:r>
              <a:rPr lang="en-IN" sz="2400" b="1" dirty="0">
                <a:solidFill>
                  <a:srgbClr val="333333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Backpropagation!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B80739-4A02-45C6-980D-745CEA8612B6}"/>
              </a:ext>
            </a:extLst>
          </p:cNvPr>
          <p:cNvSpPr/>
          <p:nvPr/>
        </p:nvSpPr>
        <p:spPr>
          <a:xfrm>
            <a:off x="228600" y="1341248"/>
            <a:ext cx="8763000" cy="3679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333333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Backpropagation</a:t>
            </a:r>
            <a:endParaRPr lang="en-IN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2040"/>
              </a:lnSpc>
            </a:pPr>
            <a:endParaRPr lang="en-IN" b="1" dirty="0">
              <a:solidFill>
                <a:srgbClr val="333333"/>
              </a:solidFill>
              <a:latin typeface="Source Sans Pro" panose="020B0503030403020204" pitchFamily="34" charset="0"/>
              <a:ea typeface="Times New Roman" panose="02020603050405020304" pitchFamily="18" charset="0"/>
            </a:endParaRPr>
          </a:p>
          <a:p>
            <a:pPr algn="just">
              <a:lnSpc>
                <a:spcPts val="2040"/>
              </a:lnSpc>
            </a:pPr>
            <a:r>
              <a:rPr lang="en-IN" sz="2400" b="1" dirty="0">
                <a:solidFill>
                  <a:srgbClr val="333333"/>
                </a:solidFill>
                <a:ea typeface="Times New Roman" panose="02020603050405020304" pitchFamily="18" charset="0"/>
              </a:rPr>
              <a:t>Backpropagation</a:t>
            </a:r>
            <a:r>
              <a:rPr lang="en-IN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, short for “backward propagation of errors”, is a mechanism used to update the </a:t>
            </a:r>
            <a:r>
              <a:rPr lang="en-IN" sz="2400" b="1" dirty="0">
                <a:solidFill>
                  <a:srgbClr val="333333"/>
                </a:solidFill>
                <a:ea typeface="Times New Roman" panose="02020603050405020304" pitchFamily="18" charset="0"/>
              </a:rPr>
              <a:t>weights</a:t>
            </a:r>
            <a:r>
              <a:rPr lang="en-IN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 using </a:t>
            </a:r>
            <a:r>
              <a:rPr lang="en-IN" sz="2400" b="1" dirty="0">
                <a:solidFill>
                  <a:srgbClr val="1B6EC2"/>
                </a:solidFill>
                <a:ea typeface="Times New Roman" panose="02020603050405020304" pitchFamily="18" charset="0"/>
              </a:rPr>
              <a:t>gradient descent</a:t>
            </a:r>
            <a:r>
              <a:rPr lang="en-IN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. It calculates the gradient of the error function with respect to the neural network’s weights. The calculation proceeds backwards through the network.</a:t>
            </a:r>
            <a:endParaRPr lang="en-IN" sz="2400" b="1" dirty="0">
              <a:ea typeface="Times New Roman" panose="02020603050405020304" pitchFamily="18" charset="0"/>
            </a:endParaRPr>
          </a:p>
          <a:p>
            <a:pPr algn="just">
              <a:lnSpc>
                <a:spcPts val="2040"/>
              </a:lnSpc>
              <a:spcAft>
                <a:spcPts val="0"/>
              </a:spcAft>
            </a:pPr>
            <a:endParaRPr lang="en-IN" sz="2400" b="1" dirty="0">
              <a:solidFill>
                <a:srgbClr val="333333"/>
              </a:solidFill>
              <a:ea typeface="Times New Roman" panose="02020603050405020304" pitchFamily="18" charset="0"/>
            </a:endParaRPr>
          </a:p>
          <a:p>
            <a:pPr algn="just">
              <a:lnSpc>
                <a:spcPts val="2040"/>
              </a:lnSpc>
              <a:spcAft>
                <a:spcPts val="0"/>
              </a:spcAft>
            </a:pPr>
            <a:r>
              <a:rPr lang="en-IN" sz="2400" b="1" dirty="0">
                <a:solidFill>
                  <a:srgbClr val="FF0000"/>
                </a:solidFill>
                <a:ea typeface="Times New Roman" panose="02020603050405020304" pitchFamily="18" charset="0"/>
              </a:rPr>
              <a:t>Gradient descent</a:t>
            </a:r>
            <a:r>
              <a:rPr lang="en-IN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 is an iterative optimization algorithm for finding the minimum of a function; in our case we want to minimize </a:t>
            </a:r>
            <a:r>
              <a:rPr lang="en-IN" sz="2400" b="1" dirty="0" err="1">
                <a:solidFill>
                  <a:srgbClr val="000000"/>
                </a:solidFill>
                <a:ea typeface="Times New Roman" panose="02020603050405020304" pitchFamily="18" charset="0"/>
              </a:rPr>
              <a:t>th</a:t>
            </a:r>
            <a:r>
              <a:rPr lang="en-IN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 error function. To find a local minimum of a function using gradient descent, one takes steps proportional to the negative of the gradient of the function at the current point.</a:t>
            </a:r>
            <a:endParaRPr lang="en-IN" sz="2400" b="1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5749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p_update_formula">
            <a:extLst>
              <a:ext uri="{FF2B5EF4-FFF2-40B4-BE49-F238E27FC236}">
                <a16:creationId xmlns:a16="http://schemas.microsoft.com/office/drawing/2014/main" id="{E2D06FC4-C127-4417-A2D3-3B9C4809B9D7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76200"/>
            <a:ext cx="5248275" cy="302418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C967DD4-7688-40E2-B298-0D21AF246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" y="3276600"/>
            <a:ext cx="83058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For example, to update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64FC7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w6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, we take the current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64FC7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w6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 and subtract the partial derivative of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error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 function with respect to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64FC7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w6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. Optionally, we multiply the derivative of the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error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 function by a selected number to make sure that the new updated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weight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 is minimizing the error function; this number is called </a:t>
            </a: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learning rate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update w6">
            <a:extLst>
              <a:ext uri="{FF2B5EF4-FFF2-40B4-BE49-F238E27FC236}">
                <a16:creationId xmlns:a16="http://schemas.microsoft.com/office/drawing/2014/main" id="{586755C0-B53A-4CE5-9C08-5ECFDBB0E64E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9851" y="5584924"/>
            <a:ext cx="3571875" cy="9239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49367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4EF1F3-63DB-4BA5-B6F9-8E52721BA357}"/>
              </a:ext>
            </a:extLst>
          </p:cNvPr>
          <p:cNvSpPr/>
          <p:nvPr/>
        </p:nvSpPr>
        <p:spPr>
          <a:xfrm>
            <a:off x="228600" y="152400"/>
            <a:ext cx="8686800" cy="619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40"/>
              </a:lnSpc>
            </a:pPr>
            <a:r>
              <a:rPr lang="en-IN" sz="2400" b="1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The derivation of the error function is evaluated by applying the chain rule as following</a:t>
            </a:r>
            <a:endParaRPr lang="en-IN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 descr="finding partial derivative with respect to w6">
            <a:extLst>
              <a:ext uri="{FF2B5EF4-FFF2-40B4-BE49-F238E27FC236}">
                <a16:creationId xmlns:a16="http://schemas.microsoft.com/office/drawing/2014/main" id="{5B2D1DF4-96DF-4675-8C0A-DAC53232C9B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90600"/>
            <a:ext cx="8839200" cy="5105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47273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2B34180-CBFA-49A5-8A72-30F6B3D6F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3010"/>
            <a:ext cx="79704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So to update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64FC7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w6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 we can apply the following formula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 descr="bp_w6_update_closed_form.png">
            <a:extLst>
              <a:ext uri="{FF2B5EF4-FFF2-40B4-BE49-F238E27FC236}">
                <a16:creationId xmlns:a16="http://schemas.microsoft.com/office/drawing/2014/main" id="{176742F7-A75A-4322-9A4E-C10AF540359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90210"/>
            <a:ext cx="3571875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57735747-90F5-41F1-AAF0-84C548CF9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414135"/>
            <a:ext cx="8839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Similarly, we can derive the update formula for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64FC7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w5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 and any other weights existing between the output and the hidden layer.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 descr="bp_w5_update_closed_form.png">
            <a:extLst>
              <a:ext uri="{FF2B5EF4-FFF2-40B4-BE49-F238E27FC236}">
                <a16:creationId xmlns:a16="http://schemas.microsoft.com/office/drawing/2014/main" id="{D3F7C78B-6464-496F-A20C-3ED3EA4FBCB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022" y="2309838"/>
            <a:ext cx="3571875" cy="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AF6F3A12-B968-49FA-9069-C73118CF4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781" y="3068781"/>
            <a:ext cx="864421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However, when moving backward to update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64FC7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,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64FC7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,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64FC7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 and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64FC7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w4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 existing between input and hidden layer, the partial derivative for the error function with respect to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64FC7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, for example, will be as following.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1693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nding partial derivative with respect to w1">
            <a:extLst>
              <a:ext uri="{FF2B5EF4-FFF2-40B4-BE49-F238E27FC236}">
                <a16:creationId xmlns:a16="http://schemas.microsoft.com/office/drawing/2014/main" id="{82AAB9D5-25A7-4078-AD2A-B99280FE4C4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52400"/>
            <a:ext cx="89916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B5F002F-7F13-4021-A45B-01CA056E3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689902"/>
            <a:ext cx="8534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We can find the update formula for the remaining weights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64FC7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,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64FC7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 and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64FC7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w4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 in the same way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993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FAFC82-4B04-4239-8274-4FFB2346E12A}"/>
              </a:ext>
            </a:extLst>
          </p:cNvPr>
          <p:cNvSpPr/>
          <p:nvPr/>
        </p:nvSpPr>
        <p:spPr>
          <a:xfrm>
            <a:off x="228600" y="152400"/>
            <a:ext cx="8839200" cy="348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40"/>
              </a:lnSpc>
            </a:pPr>
            <a:r>
              <a:rPr lang="en-IN" sz="2000" b="1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In summary, the update formulas for all weights will be as following:</a:t>
            </a:r>
            <a:endParaRPr lang="en-IN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 descr="bp_update_all_weights">
            <a:extLst>
              <a:ext uri="{FF2B5EF4-FFF2-40B4-BE49-F238E27FC236}">
                <a16:creationId xmlns:a16="http://schemas.microsoft.com/office/drawing/2014/main" id="{5745F915-ADB2-4107-BDDF-E496AF52B74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25" y="501213"/>
            <a:ext cx="6200775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F1F246F-F1AA-4080-969C-9CE54C428129}"/>
              </a:ext>
            </a:extLst>
          </p:cNvPr>
          <p:cNvSpPr/>
          <p:nvPr/>
        </p:nvSpPr>
        <p:spPr>
          <a:xfrm>
            <a:off x="428625" y="2209800"/>
            <a:ext cx="4572000" cy="60529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040"/>
              </a:lnSpc>
            </a:pPr>
            <a:r>
              <a:rPr lang="en-IN" b="1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We can rewrite the update formulas in matrices as following</a:t>
            </a:r>
            <a:endParaRPr lang="en-IN" sz="1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 descr="bp_update_all_weights_matrix">
            <a:extLst>
              <a:ext uri="{FF2B5EF4-FFF2-40B4-BE49-F238E27FC236}">
                <a16:creationId xmlns:a16="http://schemas.microsoft.com/office/drawing/2014/main" id="{11BF61C5-512E-48DC-8358-551E1C617C6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582928"/>
            <a:ext cx="6904355" cy="18815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37319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80A934-0C72-48FE-B805-C4250D184AB3}"/>
              </a:ext>
            </a:extLst>
          </p:cNvPr>
          <p:cNvSpPr/>
          <p:nvPr/>
        </p:nvSpPr>
        <p:spPr>
          <a:xfrm>
            <a:off x="76200" y="152400"/>
            <a:ext cx="8839200" cy="1097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Backward Pass</a:t>
            </a:r>
            <a:endParaRPr lang="en-IN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2040"/>
              </a:lnSpc>
            </a:pPr>
            <a:r>
              <a:rPr lang="en-IN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Using derived formulas we can find the new </a:t>
            </a:r>
            <a:r>
              <a:rPr lang="en-IN" b="1" dirty="0">
                <a:solidFill>
                  <a:srgbClr val="333333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weights</a:t>
            </a:r>
            <a:r>
              <a:rPr lang="en-IN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.</a:t>
            </a:r>
            <a:endParaRPr lang="en-IN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2040"/>
              </a:lnSpc>
              <a:spcAft>
                <a:spcPts val="0"/>
              </a:spcAft>
            </a:pPr>
            <a:r>
              <a:rPr lang="en-IN" b="1" dirty="0">
                <a:solidFill>
                  <a:srgbClr val="333333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Learning rate:</a:t>
            </a:r>
            <a:r>
              <a:rPr lang="en-IN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 is a hyperparameter which means that we need to manually guess its value.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 descr="bp_new_weights">
            <a:extLst>
              <a:ext uri="{FF2B5EF4-FFF2-40B4-BE49-F238E27FC236}">
                <a16:creationId xmlns:a16="http://schemas.microsoft.com/office/drawing/2014/main" id="{D5475C2E-490C-419C-BA58-802656B522F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50136"/>
            <a:ext cx="8458200" cy="324566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3AC1338-E365-4568-82AD-B04357F08C77}"/>
              </a:ext>
            </a:extLst>
          </p:cNvPr>
          <p:cNvSpPr/>
          <p:nvPr/>
        </p:nvSpPr>
        <p:spPr>
          <a:xfrm>
            <a:off x="242710" y="4419600"/>
            <a:ext cx="8672689" cy="348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40"/>
              </a:lnSpc>
            </a:pPr>
            <a:r>
              <a:rPr lang="en-IN" b="1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Now, using the new </a:t>
            </a:r>
            <a:r>
              <a:rPr lang="en-IN" b="1" dirty="0">
                <a:solidFill>
                  <a:srgbClr val="333333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weights</a:t>
            </a:r>
            <a:r>
              <a:rPr lang="en-IN" b="1" dirty="0">
                <a:solidFill>
                  <a:srgbClr val="000000"/>
                </a:solidFill>
                <a:latin typeface="Source Sans Pro" panose="020B0503030403020204" pitchFamily="34" charset="0"/>
                <a:ea typeface="Times New Roman" panose="02020603050405020304" pitchFamily="18" charset="0"/>
              </a:rPr>
              <a:t> we will repeat the forward passed</a:t>
            </a:r>
            <a:endParaRPr lang="en-IN" sz="1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9890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p_forward_2">
            <a:extLst>
              <a:ext uri="{FF2B5EF4-FFF2-40B4-BE49-F238E27FC236}">
                <a16:creationId xmlns:a16="http://schemas.microsoft.com/office/drawing/2014/main" id="{CE63B505-543C-4EE4-A5A5-936FF812AC4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-5208"/>
            <a:ext cx="7543800" cy="518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C2CD80F-299F-430D-A2C6-AFDE9444A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5196148"/>
            <a:ext cx="89154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We can notice that the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prediction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64FC7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0.26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 is a little bit closer to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actual output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 than the previously predicted one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64FC7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0.191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. We can repeat the same process of backward and forward pass until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error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</a:rPr>
              <a:t> is close or equal to zero.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7595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36543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20296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969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2652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91A59BEFD62F44A65761B79C99AA2F" ma:contentTypeVersion="0" ma:contentTypeDescription="Create a new document." ma:contentTypeScope="" ma:versionID="c634810ca9d53342ad1d89539a301f2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76ef529c39306168521fdb1fa67254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B8D37AE-C016-4C9E-9FEE-98D263B0E575}"/>
</file>

<file path=customXml/itemProps2.xml><?xml version="1.0" encoding="utf-8"?>
<ds:datastoreItem xmlns:ds="http://schemas.openxmlformats.org/officeDocument/2006/customXml" ds:itemID="{E0233E4B-6415-4918-9918-316B55C25A53}"/>
</file>

<file path=customXml/itemProps3.xml><?xml version="1.0" encoding="utf-8"?>
<ds:datastoreItem xmlns:ds="http://schemas.openxmlformats.org/officeDocument/2006/customXml" ds:itemID="{FF66C842-FD3B-4CC8-9D06-B8AE2E79C7AF}"/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967</Words>
  <Application>Microsoft Office PowerPoint</Application>
  <PresentationFormat>On-screen Show (4:3)</PresentationFormat>
  <Paragraphs>63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Arial</vt:lpstr>
      <vt:lpstr>Arial Unicode MS</vt:lpstr>
      <vt:lpstr>Calibri</vt:lpstr>
      <vt:lpstr>Cambria</vt:lpstr>
      <vt:lpstr>Source Sans Pro</vt:lpstr>
      <vt:lpstr>Times New Roman</vt:lpstr>
      <vt:lpstr>Wingdings</vt:lpstr>
      <vt:lpstr>Office Theme</vt:lpstr>
      <vt:lpstr>Backpropagation</vt:lpstr>
      <vt:lpstr>Backpropagation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Another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PANKAJ AGARWAL</dc:creator>
  <cp:lastModifiedBy>DEAN SOET</cp:lastModifiedBy>
  <cp:revision>21</cp:revision>
  <dcterms:created xsi:type="dcterms:W3CDTF">2006-08-16T00:00:00Z</dcterms:created>
  <dcterms:modified xsi:type="dcterms:W3CDTF">2025-11-01T17:30:21Z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0x0101009D91A59BEFD62F44A65761B79C99AA2F</vt:lpwstr>
  </property>
</Properties>
</file>